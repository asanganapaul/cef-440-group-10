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3260" y="-740410"/>
            <a:ext cx="4572000" cy="4572000"/>
          </a:xfrm>
          <a:prstGeom prst="ellipse">
            <a:avLst/>
          </a:prstGeom>
          <a:solidFill>
            <a:srgbClr val="1565C0">
              <a:alpha val="20000"/>
            </a:srgbClr>
          </a:solidFill>
          <a:ln w="12700">
            <a:solidFill>
              <a:srgbClr val="1565C0">
                <a:alpha val="20000"/>
              </a:srgbClr>
            </a:solidFill>
            <a:prstDash val="solid"/>
          </a:ln>
        </p:spPr>
      </p:sp>
      <p:sp>
        <p:nvSpPr>
          <p:cNvPr id="3" name="Shape 1"/>
          <p:cNvSpPr/>
          <p:nvPr/>
        </p:nvSpPr>
        <p:spPr>
          <a:xfrm>
            <a:off x="5983605" y="2167255"/>
            <a:ext cx="3657600" cy="3657600"/>
          </a:xfrm>
          <a:prstGeom prst="ellipse">
            <a:avLst/>
          </a:prstGeom>
          <a:solidFill>
            <a:srgbClr val="00897B">
              <a:alpha val="15000"/>
            </a:srgbClr>
          </a:solidFill>
          <a:ln w="12700">
            <a:solidFill>
              <a:srgbClr val="00897B">
                <a:alpha val="15000"/>
              </a:srgbClr>
            </a:solidFill>
            <a:prstDash val="solid"/>
          </a:ln>
        </p:spPr>
      </p:sp>
      <p:pic>
        <p:nvPicPr>
          <p:cNvPr id="4" name="Image 0" descr="preencoded.png"/>
          <p:cNvPicPr>
            <a:picLocks noChangeAspect="1"/>
          </p:cNvPicPr>
          <p:nvPr/>
        </p:nvPicPr>
        <p:blipFill>
          <a:blip r:embed="rId1"/>
          <a:stretch>
            <a:fillRect/>
          </a:stretch>
        </p:blipFill>
        <p:spPr>
          <a:xfrm>
            <a:off x="159385" y="457200"/>
            <a:ext cx="2886710" cy="1828800"/>
          </a:xfrm>
          <a:prstGeom prst="rect">
            <a:avLst/>
          </a:prstGeom>
        </p:spPr>
      </p:pic>
      <p:sp>
        <p:nvSpPr>
          <p:cNvPr id="5" name="Text 2"/>
          <p:cNvSpPr/>
          <p:nvPr/>
        </p:nvSpPr>
        <p:spPr>
          <a:xfrm>
            <a:off x="365760" y="2331720"/>
            <a:ext cx="4572000" cy="685800"/>
          </a:xfrm>
          <a:prstGeom prst="rect">
            <a:avLst/>
          </a:prstGeom>
          <a:noFill/>
        </p:spPr>
        <p:txBody>
          <a:bodyPr wrap="square" rtlCol="0" anchor="ctr"/>
          <a:lstStyle/>
          <a:p>
            <a:pPr marL="0" indent="0">
              <a:buNone/>
            </a:pPr>
            <a:r>
              <a:rPr lang="en-US" sz="4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SignalSense</a:t>
            </a:r>
            <a:endParaRPr lang="en-US" sz="4200" dirty="0"/>
          </a:p>
        </p:txBody>
      </p:sp>
      <p:sp>
        <p:nvSpPr>
          <p:cNvPr id="6" name="Text 3"/>
          <p:cNvSpPr/>
          <p:nvPr/>
        </p:nvSpPr>
        <p:spPr>
          <a:xfrm>
            <a:off x="365760" y="2971800"/>
            <a:ext cx="5486400" cy="411480"/>
          </a:xfrm>
          <a:prstGeom prst="rect">
            <a:avLst/>
          </a:prstGeom>
          <a:noFill/>
        </p:spPr>
        <p:txBody>
          <a:bodyPr wrap="square" rtlCol="0" anchor="ctr"/>
          <a:lstStyle/>
          <a:p>
            <a:pPr marL="0" indent="0">
              <a:buNone/>
            </a:pPr>
            <a:r>
              <a:rPr lang="en-US" sz="2000" dirty="0">
                <a:solidFill>
                  <a:srgbClr val="90CAF9"/>
                </a:solidFill>
                <a:latin typeface="Calibri" panose="020F0502020204030204" pitchFamily="34" charset="0"/>
                <a:ea typeface="Calibri" panose="020F0502020204030204" pitchFamily="34" charset="-122"/>
                <a:cs typeface="Calibri" panose="020F0502020204030204" pitchFamily="34" charset="-120"/>
              </a:rPr>
              <a:t>UI Design &amp; Implementation</a:t>
            </a:r>
            <a:endParaRPr lang="en-US" sz="2000" dirty="0"/>
          </a:p>
        </p:txBody>
      </p:sp>
      <p:sp>
        <p:nvSpPr>
          <p:cNvPr id="7" name="Shape 4"/>
          <p:cNvSpPr/>
          <p:nvPr/>
        </p:nvSpPr>
        <p:spPr>
          <a:xfrm>
            <a:off x="365760" y="3429000"/>
            <a:ext cx="5029200" cy="0"/>
          </a:xfrm>
          <a:prstGeom prst="line">
            <a:avLst/>
          </a:prstGeom>
          <a:noFill/>
          <a:ln w="25400">
            <a:solidFill>
              <a:srgbClr val="00897B"/>
            </a:solidFill>
            <a:prstDash val="solid"/>
          </a:ln>
        </p:spPr>
      </p:sp>
      <p:sp>
        <p:nvSpPr>
          <p:cNvPr id="8" name="Text 5"/>
          <p:cNvSpPr/>
          <p:nvPr/>
        </p:nvSpPr>
        <p:spPr>
          <a:xfrm>
            <a:off x="365760" y="3566160"/>
            <a:ext cx="5943600" cy="365760"/>
          </a:xfrm>
          <a:prstGeom prst="rect">
            <a:avLst/>
          </a:prstGeom>
          <a:noFill/>
        </p:spPr>
        <p:txBody>
          <a:bodyPr wrap="square" rtlCol="0" anchor="ctr"/>
          <a:lstStyle/>
          <a:p>
            <a:pPr marL="0" indent="0">
              <a:buNone/>
            </a:pPr>
            <a:r>
              <a:rPr lang="en-US" sz="1100" b="1" dirty="0">
                <a:solidFill>
                  <a:srgbClr val="00897B"/>
                </a:solidFill>
                <a:latin typeface="Calibri" panose="020F0502020204030204" pitchFamily="34" charset="0"/>
                <a:ea typeface="Calibri" panose="020F0502020204030204" pitchFamily="34" charset="-122"/>
                <a:cs typeface="Calibri" panose="020F0502020204030204" pitchFamily="34" charset="-120"/>
              </a:rPr>
              <a:t>PROJECT 3: </a:t>
            </a:r>
            <a:r>
              <a:rPr lang="en-US" sz="1100" dirty="0">
                <a:solidFill>
                  <a:srgbClr val="CFD8DC"/>
                </a:solidFill>
                <a:latin typeface="Calibri" panose="020F0502020204030204" pitchFamily="34" charset="0"/>
                <a:ea typeface="Calibri" panose="020F0502020204030204" pitchFamily="34" charset="-122"/>
                <a:cs typeface="Calibri" panose="020F0502020204030204" pitchFamily="34" charset="-120"/>
              </a:rPr>
              <a:t>Crowdsensed Drive Test Mobile App for Coverage Prediction</a:t>
            </a:r>
            <a:endParaRPr lang="en-US" sz="1100" dirty="0"/>
          </a:p>
        </p:txBody>
      </p:sp>
      <p:sp>
        <p:nvSpPr>
          <p:cNvPr id="9" name="Text 6"/>
          <p:cNvSpPr/>
          <p:nvPr/>
        </p:nvSpPr>
        <p:spPr>
          <a:xfrm>
            <a:off x="365760" y="3977640"/>
            <a:ext cx="640080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TASK 5  ·  GROUP 10  ·  Internet Programming &amp; Mobile Programming</a:t>
            </a:r>
            <a:endParaRPr lang="en-US" sz="1000" dirty="0"/>
          </a:p>
        </p:txBody>
      </p:sp>
      <p:sp>
        <p:nvSpPr>
          <p:cNvPr id="10" name="Shape 7"/>
          <p:cNvSpPr/>
          <p:nvPr/>
        </p:nvSpPr>
        <p:spPr>
          <a:xfrm>
            <a:off x="6217920" y="365760"/>
            <a:ext cx="2651760" cy="4480560"/>
          </a:xfrm>
          <a:prstGeom prst="roundRect">
            <a:avLst>
              <a:gd name="adj" fmla="val 4138"/>
            </a:avLst>
          </a:prstGeom>
          <a:solidFill>
            <a:srgbClr val="132040"/>
          </a:solidFill>
          <a:effectLst>
            <a:outerShdw blurRad="127000" dist="38100" dir="2700000" algn="bl" rotWithShape="0">
              <a:srgbClr val="000000">
                <a:alpha val="25000"/>
              </a:srgbClr>
            </a:outerShdw>
          </a:effectLst>
        </p:spPr>
      </p:sp>
      <p:sp>
        <p:nvSpPr>
          <p:cNvPr id="11" name="Text 8"/>
          <p:cNvSpPr/>
          <p:nvPr/>
        </p:nvSpPr>
        <p:spPr>
          <a:xfrm>
            <a:off x="6309360" y="548640"/>
            <a:ext cx="2468880" cy="274320"/>
          </a:xfrm>
          <a:prstGeom prst="rect">
            <a:avLst/>
          </a:prstGeom>
          <a:noFill/>
        </p:spPr>
        <p:txBody>
          <a:bodyPr wrap="square" rtlCol="0" anchor="ctr"/>
          <a:lstStyle/>
          <a:p>
            <a:pPr marL="0" indent="0">
              <a:buNone/>
            </a:pPr>
            <a:r>
              <a:rPr lang="en-US" sz="900" b="1" kern="0" spc="200" dirty="0">
                <a:solidFill>
                  <a:srgbClr val="00897B"/>
                </a:solidFill>
                <a:latin typeface="Calibri" panose="020F0502020204030204" pitchFamily="34" charset="0"/>
                <a:ea typeface="Calibri" panose="020F0502020204030204" pitchFamily="34" charset="-122"/>
                <a:cs typeface="Calibri" panose="020F0502020204030204" pitchFamily="34" charset="-120"/>
              </a:rPr>
              <a:t>GROUP 10 MEMBERS</a:t>
            </a:r>
            <a:endParaRPr lang="en-US" sz="900" dirty="0"/>
          </a:p>
        </p:txBody>
      </p:sp>
      <p:sp>
        <p:nvSpPr>
          <p:cNvPr id="12" name="Text 9"/>
          <p:cNvSpPr/>
          <p:nvPr/>
        </p:nvSpPr>
        <p:spPr>
          <a:xfrm>
            <a:off x="6355080" y="960120"/>
            <a:ext cx="2377440" cy="25603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Asangana Paul Fleming</a:t>
            </a:r>
            <a:endParaRPr lang="en-US" sz="1000" dirty="0"/>
          </a:p>
        </p:txBody>
      </p:sp>
      <p:sp>
        <p:nvSpPr>
          <p:cNvPr id="13" name="Text 10"/>
          <p:cNvSpPr/>
          <p:nvPr/>
        </p:nvSpPr>
        <p:spPr>
          <a:xfrm>
            <a:off x="6355080" y="1216152"/>
            <a:ext cx="2377440" cy="201168"/>
          </a:xfrm>
          <a:prstGeom prst="rect">
            <a:avLst/>
          </a:prstGeom>
          <a:noFill/>
        </p:spPr>
        <p:txBody>
          <a:bodyPr wrap="square" rtlCol="0" anchor="ctr"/>
          <a:lstStyle/>
          <a:p>
            <a:pPr marL="0" indent="0">
              <a:buNone/>
            </a:pPr>
            <a:r>
              <a:rPr lang="en-US" sz="900" dirty="0">
                <a:solidFill>
                  <a:srgbClr val="B0BEC5"/>
                </a:solidFill>
                <a:latin typeface="Calibri" panose="020F0502020204030204" pitchFamily="34" charset="0"/>
                <a:ea typeface="Calibri" panose="020F0502020204030204" pitchFamily="34" charset="-122"/>
                <a:cs typeface="Calibri" panose="020F0502020204030204" pitchFamily="34" charset="-120"/>
              </a:rPr>
              <a:t>FE23A014</a:t>
            </a:r>
            <a:endParaRPr lang="en-US" sz="900" dirty="0"/>
          </a:p>
        </p:txBody>
      </p:sp>
      <p:sp>
        <p:nvSpPr>
          <p:cNvPr id="14" name="Text 11"/>
          <p:cNvSpPr/>
          <p:nvPr/>
        </p:nvSpPr>
        <p:spPr>
          <a:xfrm>
            <a:off x="6355080" y="1563624"/>
            <a:ext cx="2377440" cy="25603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Fontem Junior Nkonganyik</a:t>
            </a:r>
            <a:endParaRPr lang="en-US" sz="1000" dirty="0"/>
          </a:p>
        </p:txBody>
      </p:sp>
      <p:sp>
        <p:nvSpPr>
          <p:cNvPr id="15" name="Text 12"/>
          <p:cNvSpPr/>
          <p:nvPr/>
        </p:nvSpPr>
        <p:spPr>
          <a:xfrm>
            <a:off x="6355080" y="1819656"/>
            <a:ext cx="2377440" cy="201168"/>
          </a:xfrm>
          <a:prstGeom prst="rect">
            <a:avLst/>
          </a:prstGeom>
          <a:noFill/>
        </p:spPr>
        <p:txBody>
          <a:bodyPr wrap="square" rtlCol="0" anchor="ctr"/>
          <a:lstStyle/>
          <a:p>
            <a:pPr marL="0" indent="0">
              <a:buNone/>
            </a:pPr>
            <a:r>
              <a:rPr lang="en-US" sz="900" dirty="0">
                <a:solidFill>
                  <a:srgbClr val="B0BEC5"/>
                </a:solidFill>
                <a:latin typeface="Calibri" panose="020F0502020204030204" pitchFamily="34" charset="0"/>
                <a:ea typeface="Calibri" panose="020F0502020204030204" pitchFamily="34" charset="-122"/>
                <a:cs typeface="Calibri" panose="020F0502020204030204" pitchFamily="34" charset="-120"/>
              </a:rPr>
              <a:t>FE23A063</a:t>
            </a:r>
            <a:endParaRPr lang="en-US" sz="900" dirty="0"/>
          </a:p>
        </p:txBody>
      </p:sp>
      <p:sp>
        <p:nvSpPr>
          <p:cNvPr id="16" name="Text 13"/>
          <p:cNvSpPr/>
          <p:nvPr/>
        </p:nvSpPr>
        <p:spPr>
          <a:xfrm>
            <a:off x="6355080" y="2167128"/>
            <a:ext cx="2377440" cy="25603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Suinyuy Mathias Mahla</a:t>
            </a:r>
            <a:endParaRPr lang="en-US" sz="1000" dirty="0"/>
          </a:p>
        </p:txBody>
      </p:sp>
      <p:sp>
        <p:nvSpPr>
          <p:cNvPr id="17" name="Text 14"/>
          <p:cNvSpPr/>
          <p:nvPr/>
        </p:nvSpPr>
        <p:spPr>
          <a:xfrm>
            <a:off x="6355080" y="2423160"/>
            <a:ext cx="2377440" cy="201168"/>
          </a:xfrm>
          <a:prstGeom prst="rect">
            <a:avLst/>
          </a:prstGeom>
          <a:noFill/>
        </p:spPr>
        <p:txBody>
          <a:bodyPr wrap="square" rtlCol="0" anchor="ctr"/>
          <a:lstStyle/>
          <a:p>
            <a:pPr marL="0" indent="0">
              <a:buNone/>
            </a:pPr>
            <a:r>
              <a:rPr lang="en-US" sz="900" dirty="0">
                <a:solidFill>
                  <a:srgbClr val="B0BEC5"/>
                </a:solidFill>
                <a:latin typeface="Calibri" panose="020F0502020204030204" pitchFamily="34" charset="0"/>
                <a:ea typeface="Calibri" panose="020F0502020204030204" pitchFamily="34" charset="-122"/>
                <a:cs typeface="Calibri" panose="020F0502020204030204" pitchFamily="34" charset="-120"/>
              </a:rPr>
              <a:t>FE23A144</a:t>
            </a:r>
            <a:endParaRPr lang="en-US" sz="900" dirty="0"/>
          </a:p>
        </p:txBody>
      </p:sp>
      <p:sp>
        <p:nvSpPr>
          <p:cNvPr id="18" name="Text 15"/>
          <p:cNvSpPr/>
          <p:nvPr/>
        </p:nvSpPr>
        <p:spPr>
          <a:xfrm>
            <a:off x="6355080" y="2770632"/>
            <a:ext cx="2377440" cy="25603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Nfor Godwill Kongnje</a:t>
            </a:r>
            <a:endParaRPr lang="en-US" sz="1000" dirty="0"/>
          </a:p>
        </p:txBody>
      </p:sp>
      <p:sp>
        <p:nvSpPr>
          <p:cNvPr id="19" name="Text 16"/>
          <p:cNvSpPr/>
          <p:nvPr/>
        </p:nvSpPr>
        <p:spPr>
          <a:xfrm>
            <a:off x="6355080" y="3026664"/>
            <a:ext cx="2377440" cy="201168"/>
          </a:xfrm>
          <a:prstGeom prst="rect">
            <a:avLst/>
          </a:prstGeom>
          <a:noFill/>
        </p:spPr>
        <p:txBody>
          <a:bodyPr wrap="square" rtlCol="0" anchor="ctr"/>
          <a:lstStyle/>
          <a:p>
            <a:pPr marL="0" indent="0">
              <a:buNone/>
            </a:pPr>
            <a:r>
              <a:rPr lang="en-US" sz="900" dirty="0">
                <a:solidFill>
                  <a:srgbClr val="B0BEC5"/>
                </a:solidFill>
                <a:latin typeface="Calibri" panose="020F0502020204030204" pitchFamily="34" charset="0"/>
                <a:ea typeface="Calibri" panose="020F0502020204030204" pitchFamily="34" charset="-122"/>
                <a:cs typeface="Calibri" panose="020F0502020204030204" pitchFamily="34" charset="-120"/>
              </a:rPr>
              <a:t>FE23A108</a:t>
            </a:r>
            <a:endParaRPr lang="en-US" sz="900" dirty="0"/>
          </a:p>
        </p:txBody>
      </p:sp>
      <p:sp>
        <p:nvSpPr>
          <p:cNvPr id="20" name="Text 17"/>
          <p:cNvSpPr/>
          <p:nvPr/>
        </p:nvSpPr>
        <p:spPr>
          <a:xfrm>
            <a:off x="6355080" y="3374136"/>
            <a:ext cx="2377440" cy="256032"/>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Ronald Namwene Vefonge</a:t>
            </a:r>
            <a:endParaRPr lang="en-US" sz="1000" dirty="0"/>
          </a:p>
        </p:txBody>
      </p:sp>
      <p:sp>
        <p:nvSpPr>
          <p:cNvPr id="21" name="Text 18"/>
          <p:cNvSpPr/>
          <p:nvPr/>
        </p:nvSpPr>
        <p:spPr>
          <a:xfrm>
            <a:off x="6355080" y="3630168"/>
            <a:ext cx="2377440" cy="201168"/>
          </a:xfrm>
          <a:prstGeom prst="rect">
            <a:avLst/>
          </a:prstGeom>
          <a:noFill/>
        </p:spPr>
        <p:txBody>
          <a:bodyPr wrap="square" rtlCol="0" anchor="ctr"/>
          <a:lstStyle/>
          <a:p>
            <a:pPr marL="0" indent="0">
              <a:buNone/>
            </a:pPr>
            <a:r>
              <a:rPr lang="en-US" sz="900" dirty="0">
                <a:solidFill>
                  <a:srgbClr val="B0BEC5"/>
                </a:solidFill>
                <a:latin typeface="Calibri" panose="020F0502020204030204" pitchFamily="34" charset="0"/>
                <a:ea typeface="Calibri" panose="020F0502020204030204" pitchFamily="34" charset="-122"/>
                <a:cs typeface="Calibri" panose="020F0502020204030204" pitchFamily="34" charset="-120"/>
              </a:rPr>
              <a:t>FE22A295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INTRODUCTION</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0A1628"/>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3000" dirty="0"/>
          </a:p>
        </p:txBody>
      </p:sp>
      <p:sp>
        <p:nvSpPr>
          <p:cNvPr id="5" name="Text 3"/>
          <p:cNvSpPr/>
          <p:nvPr/>
        </p:nvSpPr>
        <p:spPr>
          <a:xfrm>
            <a:off x="365760" y="1027430"/>
            <a:ext cx="5440680" cy="893445"/>
          </a:xfrm>
          <a:prstGeom prst="rect">
            <a:avLst/>
          </a:prstGeom>
          <a:noFill/>
        </p:spPr>
        <p:txBody>
          <a:bodyPr wrap="square" rtlCol="0" anchor="ctr"/>
          <a:lstStyle/>
          <a:p>
            <a:pPr marL="0" indent="0" algn="l">
              <a:buNone/>
            </a:pPr>
            <a:r>
              <a:rPr lang="en-US" sz="1200" dirty="0">
                <a:solidFill>
                  <a:srgbClr val="37474F"/>
                </a:solidFill>
                <a:latin typeface="Calibri" panose="020F0502020204030204" pitchFamily="34" charset="0"/>
                <a:ea typeface="Calibri" panose="020F0502020204030204" pitchFamily="34" charset="-122"/>
                <a:cs typeface="Calibri" panose="020F0502020204030204" pitchFamily="34" charset="-120"/>
              </a:rPr>
              <a:t>The UI </a:t>
            </a:r>
            <a:r>
              <a:rPr lang="en-US" altLang="en-US" sz="1200" dirty="0">
                <a:solidFill>
                  <a:srgbClr val="37474F"/>
                </a:solidFill>
                <a:latin typeface="Calibri" panose="020F0502020204030204" pitchFamily="34" charset="0"/>
                <a:ea typeface="Calibri" panose="020F0502020204030204" pitchFamily="34" charset="-122"/>
                <a:cs typeface="Calibri" panose="020F0502020204030204" pitchFamily="34" charset="-120"/>
              </a:rPr>
              <a:t>plays a critical role in ensuring usability, accessibility, and efficient data collection.Since the application is intended to be used by ordinary smartphone users to collect network performance measurements, the interface must be intuitive, lightweight, and easy to navigate regardless of the user's technical expertise.</a:t>
            </a:r>
            <a:endParaRPr lang="en-US" altLang="en-US" sz="1200" dirty="0">
              <a:solidFill>
                <a:srgbClr val="374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365760" y="2376805"/>
            <a:ext cx="4023360" cy="1097280"/>
          </a:xfrm>
          <a:prstGeom prst="roundRect">
            <a:avLst>
              <a:gd name="adj" fmla="val 10000"/>
            </a:avLst>
          </a:prstGeom>
          <a:solidFill>
            <a:srgbClr val="FFFFFF"/>
          </a:solidFill>
          <a:effectLst>
            <a:outerShdw blurRad="127000" dist="38100" dir="2700000" algn="bl" rotWithShape="0">
              <a:srgbClr val="000000">
                <a:alpha val="25000"/>
              </a:srgbClr>
            </a:outerShdw>
          </a:effectLst>
        </p:spPr>
      </p:sp>
      <p:sp>
        <p:nvSpPr>
          <p:cNvPr id="7" name="Text 5"/>
          <p:cNvSpPr/>
          <p:nvPr/>
        </p:nvSpPr>
        <p:spPr>
          <a:xfrm>
            <a:off x="502920" y="2468245"/>
            <a:ext cx="3749040" cy="320040"/>
          </a:xfrm>
          <a:prstGeom prst="rect">
            <a:avLst/>
          </a:prstGeom>
          <a:noFill/>
        </p:spPr>
        <p:txBody>
          <a:bodyPr wrap="square" rtlCol="0" anchor="ctr"/>
          <a:lstStyle/>
          <a:p>
            <a:pPr marL="0" indent="0">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  The Application’s Identity</a:t>
            </a:r>
            <a:endParaRPr lang="en-US" sz="1300" dirty="0"/>
          </a:p>
        </p:txBody>
      </p:sp>
      <p:sp>
        <p:nvSpPr>
          <p:cNvPr id="8" name="Text 6"/>
          <p:cNvSpPr/>
          <p:nvPr/>
        </p:nvSpPr>
        <p:spPr>
          <a:xfrm>
            <a:off x="502920" y="2788285"/>
            <a:ext cx="3749040" cy="502920"/>
          </a:xfrm>
          <a:prstGeom prst="rect">
            <a:avLst/>
          </a:prstGeom>
          <a:noFill/>
        </p:spPr>
        <p:txBody>
          <a:bodyPr wrap="square" rtlCol="0" anchor="ctr"/>
          <a:lstStyle/>
          <a:p>
            <a:pPr marL="0" indent="0">
              <a:buNone/>
            </a:pPr>
            <a:r>
              <a:rPr lang="en-US" sz="1100" dirty="0">
                <a:solidFill>
                  <a:srgbClr val="546E7A"/>
                </a:solidFill>
                <a:latin typeface="Calibri" panose="020F0502020204030204" pitchFamily="34" charset="0"/>
                <a:ea typeface="Calibri" panose="020F0502020204030204" pitchFamily="34" charset="-122"/>
                <a:cs typeface="Calibri" panose="020F0502020204030204" pitchFamily="34" charset="-120"/>
              </a:rPr>
              <a:t>Containing the App name, brand identity, Logo and typography.</a:t>
            </a:r>
            <a:endParaRPr lang="en-US" sz="1100" dirty="0"/>
          </a:p>
        </p:txBody>
      </p:sp>
      <p:sp>
        <p:nvSpPr>
          <p:cNvPr id="9" name="Shape 7"/>
          <p:cNvSpPr/>
          <p:nvPr/>
        </p:nvSpPr>
        <p:spPr>
          <a:xfrm>
            <a:off x="4754880" y="2376805"/>
            <a:ext cx="4023360" cy="1097280"/>
          </a:xfrm>
          <a:prstGeom prst="roundRect">
            <a:avLst>
              <a:gd name="adj" fmla="val 10000"/>
            </a:avLst>
          </a:prstGeom>
          <a:solidFill>
            <a:srgbClr val="FFFFFF"/>
          </a:solidFill>
          <a:effectLst>
            <a:outerShdw blurRad="127000" dist="38100" dir="2700000" algn="bl" rotWithShape="0">
              <a:srgbClr val="000000">
                <a:alpha val="25000"/>
              </a:srgbClr>
            </a:outerShdw>
          </a:effectLst>
        </p:spPr>
        <p:txBody>
          <a:bodyPr/>
          <a:p>
            <a:endParaRPr lang="en-US"/>
          </a:p>
        </p:txBody>
      </p:sp>
      <p:sp>
        <p:nvSpPr>
          <p:cNvPr id="10" name="Text 8"/>
          <p:cNvSpPr/>
          <p:nvPr/>
        </p:nvSpPr>
        <p:spPr>
          <a:xfrm>
            <a:off x="4892040" y="2468245"/>
            <a:ext cx="3749040" cy="320040"/>
          </a:xfrm>
          <a:prstGeom prst="rect">
            <a:avLst/>
          </a:prstGeom>
          <a:noFill/>
        </p:spPr>
        <p:txBody>
          <a:bodyPr wrap="square" rtlCol="0" anchor="ctr"/>
          <a:lstStyle/>
          <a:p>
            <a:pPr marL="0" indent="0">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  Visual Interface Design</a:t>
            </a:r>
            <a:endParaRPr lang="en-US" sz="1300" dirty="0"/>
          </a:p>
        </p:txBody>
      </p:sp>
      <p:sp>
        <p:nvSpPr>
          <p:cNvPr id="11" name="Text 9"/>
          <p:cNvSpPr/>
          <p:nvPr/>
        </p:nvSpPr>
        <p:spPr>
          <a:xfrm>
            <a:off x="4892040" y="2788285"/>
            <a:ext cx="3749040" cy="502920"/>
          </a:xfrm>
          <a:prstGeom prst="rect">
            <a:avLst/>
          </a:prstGeom>
          <a:noFill/>
        </p:spPr>
        <p:txBody>
          <a:bodyPr wrap="square" rtlCol="0" anchor="ctr"/>
          <a:lstStyle/>
          <a:p>
            <a:pPr marL="0" indent="0">
              <a:buNone/>
            </a:pPr>
            <a:r>
              <a:rPr lang="en-US" sz="1100" dirty="0"/>
              <a:t>Designed with figma.</a:t>
            </a:r>
            <a:endParaRPr lang="en-US" sz="1100" dirty="0"/>
          </a:p>
        </p:txBody>
      </p:sp>
      <p:sp>
        <p:nvSpPr>
          <p:cNvPr id="12" name="Shape 10"/>
          <p:cNvSpPr/>
          <p:nvPr/>
        </p:nvSpPr>
        <p:spPr>
          <a:xfrm>
            <a:off x="365760" y="3656965"/>
            <a:ext cx="4023360" cy="1097280"/>
          </a:xfrm>
          <a:prstGeom prst="roundRect">
            <a:avLst>
              <a:gd name="adj" fmla="val 10000"/>
            </a:avLst>
          </a:prstGeom>
          <a:solidFill>
            <a:srgbClr val="FFFFFF"/>
          </a:solidFill>
          <a:effectLst>
            <a:outerShdw blurRad="127000" dist="38100" dir="2700000" algn="bl" rotWithShape="0">
              <a:srgbClr val="000000">
                <a:alpha val="25000"/>
              </a:srgbClr>
            </a:outerShdw>
          </a:effectLst>
        </p:spPr>
      </p:sp>
      <p:sp>
        <p:nvSpPr>
          <p:cNvPr id="13" name="Text 11"/>
          <p:cNvSpPr/>
          <p:nvPr/>
        </p:nvSpPr>
        <p:spPr>
          <a:xfrm>
            <a:off x="502920" y="3748405"/>
            <a:ext cx="3749040" cy="320040"/>
          </a:xfrm>
          <a:prstGeom prst="rect">
            <a:avLst/>
          </a:prstGeom>
          <a:noFill/>
        </p:spPr>
        <p:txBody>
          <a:bodyPr wrap="square" rtlCol="0" anchor="ctr"/>
          <a:lstStyle/>
          <a:p>
            <a:pPr marL="0" indent="0">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  Front-End Implementation</a:t>
            </a:r>
            <a:endParaRPr lang="en-US" sz="1300" dirty="0"/>
          </a:p>
        </p:txBody>
      </p:sp>
      <p:sp>
        <p:nvSpPr>
          <p:cNvPr id="14" name="Text 12"/>
          <p:cNvSpPr/>
          <p:nvPr/>
        </p:nvSpPr>
        <p:spPr>
          <a:xfrm>
            <a:off x="502920" y="4068445"/>
            <a:ext cx="3749040" cy="502920"/>
          </a:xfrm>
          <a:prstGeom prst="rect">
            <a:avLst/>
          </a:prstGeom>
          <a:noFill/>
        </p:spPr>
        <p:txBody>
          <a:bodyPr wrap="square" rtlCol="0" anchor="ctr"/>
          <a:lstStyle/>
          <a:p>
            <a:pPr marL="0" indent="0">
              <a:buNone/>
            </a:pPr>
            <a:r>
              <a:rPr lang="en-US" sz="1100" dirty="0"/>
              <a:t>Built with Flutter, to aid cross-platform access improving coverage.</a:t>
            </a:r>
            <a:endParaRPr lang="en-US" sz="1100" dirty="0"/>
          </a:p>
        </p:txBody>
      </p:sp>
      <p:sp>
        <p:nvSpPr>
          <p:cNvPr id="16" name="Text 14"/>
          <p:cNvSpPr/>
          <p:nvPr/>
        </p:nvSpPr>
        <p:spPr>
          <a:xfrm>
            <a:off x="4892040" y="3748405"/>
            <a:ext cx="3749040" cy="320040"/>
          </a:xfrm>
          <a:prstGeom prst="rect">
            <a:avLst/>
          </a:prstGeom>
          <a:noFill/>
        </p:spPr>
        <p:txBody>
          <a:bodyPr wrap="square" rtlCol="0" anchor="ctr"/>
          <a:lstStyle/>
          <a:p>
            <a:pPr marL="0" indent="0">
              <a:buNone/>
            </a:pPr>
            <a:endParaRPr lang="en-US" sz="1300" dirty="0"/>
          </a:p>
        </p:txBody>
      </p:sp>
      <p:sp>
        <p:nvSpPr>
          <p:cNvPr id="17" name="Text 15"/>
          <p:cNvSpPr/>
          <p:nvPr/>
        </p:nvSpPr>
        <p:spPr>
          <a:xfrm>
            <a:off x="4892040" y="4068445"/>
            <a:ext cx="3749040" cy="502920"/>
          </a:xfrm>
          <a:prstGeom prst="rect">
            <a:avLst/>
          </a:prstGeom>
          <a:noFill/>
        </p:spPr>
        <p:txBody>
          <a:bodyPr wrap="square" rtlCol="0" anchor="ctr"/>
          <a:lstStyle/>
          <a:p>
            <a:pPr marL="0" indent="0">
              <a:buNone/>
            </a:pPr>
            <a:endParaRPr lang="en-US" sz="1100" dirty="0"/>
          </a:p>
        </p:txBody>
      </p:sp>
      <p:sp>
        <p:nvSpPr>
          <p:cNvPr id="18" name="Shape 16"/>
          <p:cNvSpPr/>
          <p:nvPr/>
        </p:nvSpPr>
        <p:spPr>
          <a:xfrm>
            <a:off x="5852160" y="1097280"/>
            <a:ext cx="2926080" cy="777240"/>
          </a:xfrm>
          <a:prstGeom prst="roundRect">
            <a:avLst>
              <a:gd name="adj" fmla="val 14118"/>
            </a:avLst>
          </a:prstGeom>
          <a:solidFill>
            <a:srgbClr val="0A1628"/>
          </a:solidFill>
          <a:effectLst>
            <a:outerShdw blurRad="127000" dist="38100" dir="2700000" algn="bl" rotWithShape="0">
              <a:srgbClr val="000000">
                <a:alpha val="25000"/>
              </a:srgbClr>
            </a:outerShdw>
          </a:effectLst>
        </p:spPr>
      </p:sp>
      <p:sp>
        <p:nvSpPr>
          <p:cNvPr id="19" name="Text 17"/>
          <p:cNvSpPr/>
          <p:nvPr/>
        </p:nvSpPr>
        <p:spPr>
          <a:xfrm>
            <a:off x="5989320" y="1188720"/>
            <a:ext cx="2743200" cy="228600"/>
          </a:xfrm>
          <a:prstGeom prst="rect">
            <a:avLst/>
          </a:prstGeom>
          <a:noFill/>
        </p:spPr>
        <p:txBody>
          <a:bodyPr wrap="square" rtlCol="0" anchor="ctr"/>
          <a:lstStyle/>
          <a:p>
            <a:pPr marL="0" indent="0">
              <a:buNone/>
            </a:pPr>
            <a:r>
              <a:rPr lang="en-US" sz="900" b="1" kern="0" spc="200" dirty="0">
                <a:solidFill>
                  <a:srgbClr val="00897B"/>
                </a:solidFill>
                <a:latin typeface="Calibri" panose="020F0502020204030204" pitchFamily="34" charset="0"/>
                <a:ea typeface="Calibri" panose="020F0502020204030204" pitchFamily="34" charset="-122"/>
                <a:cs typeface="Calibri" panose="020F0502020204030204" pitchFamily="34" charset="-120"/>
              </a:rPr>
              <a:t>TASK 5 FOCUS</a:t>
            </a:r>
            <a:endParaRPr lang="en-US" sz="900" dirty="0"/>
          </a:p>
        </p:txBody>
      </p:sp>
      <p:sp>
        <p:nvSpPr>
          <p:cNvPr id="20" name="Text 18"/>
          <p:cNvSpPr/>
          <p:nvPr/>
        </p:nvSpPr>
        <p:spPr>
          <a:xfrm>
            <a:off x="5989320" y="1417320"/>
            <a:ext cx="2743200" cy="36576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UI Design &amp; Frontend Implementation using Flutter/Dart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APP IDENTITY</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SignalSense — Brand Identity</a:t>
            </a:r>
            <a:endParaRPr lang="en-US" sz="3000" dirty="0"/>
          </a:p>
        </p:txBody>
      </p:sp>
      <p:pic>
        <p:nvPicPr>
          <p:cNvPr id="5" name="Image 0" descr="preencoded.png"/>
          <p:cNvPicPr>
            <a:picLocks noChangeAspect="1"/>
          </p:cNvPicPr>
          <p:nvPr/>
        </p:nvPicPr>
        <p:blipFill>
          <a:blip r:embed="rId1"/>
          <a:stretch>
            <a:fillRect/>
          </a:stretch>
        </p:blipFill>
        <p:spPr>
          <a:xfrm>
            <a:off x="365760" y="1188720"/>
            <a:ext cx="2651760" cy="1920240"/>
          </a:xfrm>
          <a:prstGeom prst="rect">
            <a:avLst/>
          </a:prstGeom>
        </p:spPr>
      </p:pic>
      <p:sp>
        <p:nvSpPr>
          <p:cNvPr id="6" name="Shape 3"/>
          <p:cNvSpPr/>
          <p:nvPr/>
        </p:nvSpPr>
        <p:spPr>
          <a:xfrm>
            <a:off x="365760" y="3246120"/>
            <a:ext cx="4206240" cy="1554480"/>
          </a:xfrm>
          <a:prstGeom prst="roundRect">
            <a:avLst>
              <a:gd name="adj" fmla="val 7059"/>
            </a:avLst>
          </a:prstGeom>
          <a:solidFill>
            <a:srgbClr val="132040"/>
          </a:solidFill>
          <a:effectLst>
            <a:outerShdw blurRad="127000" dist="38100" dir="2700000" algn="bl" rotWithShape="0">
              <a:srgbClr val="000000">
                <a:alpha val="25000"/>
              </a:srgbClr>
            </a:outerShdw>
          </a:effectLst>
        </p:spPr>
      </p:sp>
      <p:sp>
        <p:nvSpPr>
          <p:cNvPr id="7" name="Text 4"/>
          <p:cNvSpPr/>
          <p:nvPr/>
        </p:nvSpPr>
        <p:spPr>
          <a:xfrm>
            <a:off x="502920" y="3337560"/>
            <a:ext cx="3931920" cy="274320"/>
          </a:xfrm>
          <a:prstGeom prst="rect">
            <a:avLst/>
          </a:prstGeom>
          <a:noFill/>
        </p:spPr>
        <p:txBody>
          <a:bodyPr wrap="square" rtlCol="0" anchor="ctr"/>
          <a:lstStyle/>
          <a:p>
            <a:pPr marL="0" indent="0">
              <a:buNone/>
            </a:pPr>
            <a:r>
              <a:rPr lang="en-US" sz="1100" b="1" dirty="0">
                <a:solidFill>
                  <a:srgbClr val="00897B"/>
                </a:solidFill>
                <a:latin typeface="Calibri" panose="020F0502020204030204" pitchFamily="34" charset="0"/>
                <a:ea typeface="Calibri" panose="020F0502020204030204" pitchFamily="34" charset="-122"/>
                <a:cs typeface="Calibri" panose="020F0502020204030204" pitchFamily="34" charset="-120"/>
              </a:rPr>
              <a:t>What does the name mean?</a:t>
            </a:r>
            <a:endParaRPr lang="en-US" sz="1100" dirty="0"/>
          </a:p>
        </p:txBody>
      </p:sp>
      <p:sp>
        <p:nvSpPr>
          <p:cNvPr id="8" name="Text 5"/>
          <p:cNvSpPr/>
          <p:nvPr/>
        </p:nvSpPr>
        <p:spPr>
          <a:xfrm>
            <a:off x="502920" y="3657600"/>
            <a:ext cx="3931920" cy="1005840"/>
          </a:xfrm>
          <a:prstGeom prst="rect">
            <a:avLst/>
          </a:prstGeom>
          <a:noFill/>
        </p:spPr>
        <p:txBody>
          <a:bodyPr wrap="square" rtlCol="0" anchor="ctr"/>
          <a:lstStyle/>
          <a:p>
            <a:pPr marL="0" indent="0">
              <a:buNone/>
            </a:pPr>
            <a:r>
              <a:rPr lang="en-US" sz="1100" b="1" dirty="0">
                <a:solidFill>
                  <a:srgbClr val="90CAF9"/>
                </a:solidFill>
                <a:latin typeface="Calibri" panose="020F0502020204030204" pitchFamily="34" charset="0"/>
                <a:ea typeface="Calibri" panose="020F0502020204030204" pitchFamily="34" charset="-122"/>
                <a:cs typeface="Calibri" panose="020F0502020204030204" pitchFamily="34" charset="-120"/>
              </a:rPr>
              <a:t>"Signal"</a:t>
            </a:r>
            <a:r>
              <a:rPr lang="en-US" sz="1100" dirty="0">
                <a:solidFill>
                  <a:srgbClr val="B0BEC5"/>
                </a:solidFill>
                <a:latin typeface="Calibri" panose="020F0502020204030204" pitchFamily="34" charset="0"/>
                <a:ea typeface="Calibri" panose="020F0502020204030204" pitchFamily="34" charset="-122"/>
                <a:cs typeface="Calibri" panose="020F0502020204030204" pitchFamily="34" charset="-120"/>
              </a:rPr>
              <a:t> — cellular measurements from smartphones
</a:t>
            </a:r>
            <a:r>
              <a:rPr lang="en-US" sz="1100" b="1" dirty="0">
                <a:solidFill>
                  <a:srgbClr val="90CAF9"/>
                </a:solidFill>
                <a:latin typeface="Calibri" panose="020F0502020204030204" pitchFamily="34" charset="0"/>
                <a:ea typeface="Calibri" panose="020F0502020204030204" pitchFamily="34" charset="-122"/>
                <a:cs typeface="Calibri" panose="020F0502020204030204" pitchFamily="34" charset="-120"/>
              </a:rPr>
              <a:t>"Sense"</a:t>
            </a:r>
            <a:r>
              <a:rPr lang="en-US" sz="1100" dirty="0">
                <a:solidFill>
                  <a:srgbClr val="B0BEC5"/>
                </a:solidFill>
                <a:latin typeface="Calibri" panose="020F0502020204030204" pitchFamily="34" charset="0"/>
                <a:ea typeface="Calibri" panose="020F0502020204030204" pitchFamily="34" charset="-122"/>
                <a:cs typeface="Calibri" panose="020F0502020204030204" pitchFamily="34" charset="-120"/>
              </a:rPr>
              <a:t> — detect, monitor and interpret network conditions in real-time</a:t>
            </a:r>
            <a:endParaRPr lang="en-US" sz="1100" dirty="0"/>
          </a:p>
        </p:txBody>
      </p:sp>
      <p:sp>
        <p:nvSpPr>
          <p:cNvPr id="9" name="Text 6"/>
          <p:cNvSpPr/>
          <p:nvPr/>
        </p:nvSpPr>
        <p:spPr>
          <a:xfrm>
            <a:off x="5909945" y="1143000"/>
            <a:ext cx="2140585" cy="255905"/>
          </a:xfrm>
          <a:prstGeom prst="rect">
            <a:avLst/>
          </a:prstGeom>
          <a:noFill/>
        </p:spPr>
        <p:txBody>
          <a:bodyPr wrap="square" rtlCol="0" anchor="ctr"/>
          <a:lstStyle/>
          <a:p>
            <a:pPr marL="0" indent="0">
              <a:buNone/>
            </a:pPr>
            <a:r>
              <a:rPr lang="en-US" sz="900" b="1" kern="0" spc="200" dirty="0">
                <a:solidFill>
                  <a:srgbClr val="B0BEC5"/>
                </a:solidFill>
                <a:latin typeface="Calibri" panose="020F0502020204030204" pitchFamily="34" charset="0"/>
                <a:ea typeface="Calibri" panose="020F0502020204030204" pitchFamily="34" charset="-122"/>
                <a:cs typeface="Calibri" panose="020F0502020204030204" pitchFamily="34" charset="-120"/>
              </a:rPr>
              <a:t>BRAND REPRESENTATIONS</a:t>
            </a:r>
            <a:endParaRPr lang="en-US" sz="900" dirty="0"/>
          </a:p>
        </p:txBody>
      </p:sp>
      <p:sp>
        <p:nvSpPr>
          <p:cNvPr id="10" name="Shape 7"/>
          <p:cNvSpPr/>
          <p:nvPr/>
        </p:nvSpPr>
        <p:spPr>
          <a:xfrm>
            <a:off x="4846320" y="1463040"/>
            <a:ext cx="1920240" cy="411480"/>
          </a:xfrm>
          <a:prstGeom prst="roundRect">
            <a:avLst>
              <a:gd name="adj" fmla="val 22222"/>
            </a:avLst>
          </a:prstGeom>
          <a:solidFill>
            <a:srgbClr val="1565C0">
              <a:alpha val="70000"/>
            </a:srgbClr>
          </a:solidFill>
          <a:ln w="12700">
            <a:solidFill>
              <a:srgbClr val="1565C0"/>
            </a:solidFill>
            <a:prstDash val="solid"/>
          </a:ln>
        </p:spPr>
      </p:sp>
      <p:sp>
        <p:nvSpPr>
          <p:cNvPr id="11" name="Text 8"/>
          <p:cNvSpPr/>
          <p:nvPr/>
        </p:nvSpPr>
        <p:spPr>
          <a:xfrm>
            <a:off x="4846320" y="1463040"/>
            <a:ext cx="192024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Connectivity</a:t>
            </a:r>
            <a:endParaRPr lang="en-US" sz="1100" dirty="0"/>
          </a:p>
        </p:txBody>
      </p:sp>
      <p:sp>
        <p:nvSpPr>
          <p:cNvPr id="12" name="Shape 9"/>
          <p:cNvSpPr/>
          <p:nvPr/>
        </p:nvSpPr>
        <p:spPr>
          <a:xfrm>
            <a:off x="6903720" y="1463040"/>
            <a:ext cx="1920240" cy="411480"/>
          </a:xfrm>
          <a:prstGeom prst="roundRect">
            <a:avLst>
              <a:gd name="adj" fmla="val 22222"/>
            </a:avLst>
          </a:prstGeom>
          <a:solidFill>
            <a:srgbClr val="00897B">
              <a:alpha val="70000"/>
            </a:srgbClr>
          </a:solidFill>
          <a:ln w="12700">
            <a:solidFill>
              <a:srgbClr val="00897B"/>
            </a:solidFill>
            <a:prstDash val="solid"/>
          </a:ln>
        </p:spPr>
      </p:sp>
      <p:sp>
        <p:nvSpPr>
          <p:cNvPr id="13" name="Text 10"/>
          <p:cNvSpPr/>
          <p:nvPr/>
        </p:nvSpPr>
        <p:spPr>
          <a:xfrm>
            <a:off x="6903720" y="1463040"/>
            <a:ext cx="192024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Network Intelligence</a:t>
            </a:r>
            <a:endParaRPr lang="en-US" sz="1100" dirty="0"/>
          </a:p>
        </p:txBody>
      </p:sp>
      <p:sp>
        <p:nvSpPr>
          <p:cNvPr id="14" name="Shape 11"/>
          <p:cNvSpPr/>
          <p:nvPr/>
        </p:nvSpPr>
        <p:spPr>
          <a:xfrm>
            <a:off x="4846320" y="2103120"/>
            <a:ext cx="1920240" cy="411480"/>
          </a:xfrm>
          <a:prstGeom prst="roundRect">
            <a:avLst>
              <a:gd name="adj" fmla="val 22222"/>
            </a:avLst>
          </a:prstGeom>
          <a:solidFill>
            <a:srgbClr val="1E88E5">
              <a:alpha val="70000"/>
            </a:srgbClr>
          </a:solidFill>
          <a:ln w="12700">
            <a:solidFill>
              <a:srgbClr val="1E88E5"/>
            </a:solidFill>
            <a:prstDash val="solid"/>
          </a:ln>
        </p:spPr>
      </p:sp>
      <p:sp>
        <p:nvSpPr>
          <p:cNvPr id="15" name="Text 12"/>
          <p:cNvSpPr/>
          <p:nvPr/>
        </p:nvSpPr>
        <p:spPr>
          <a:xfrm>
            <a:off x="4846320" y="2103120"/>
            <a:ext cx="192024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Mobility</a:t>
            </a:r>
            <a:endParaRPr lang="en-US" sz="1100" dirty="0"/>
          </a:p>
        </p:txBody>
      </p:sp>
      <p:sp>
        <p:nvSpPr>
          <p:cNvPr id="16" name="Shape 13"/>
          <p:cNvSpPr/>
          <p:nvPr/>
        </p:nvSpPr>
        <p:spPr>
          <a:xfrm>
            <a:off x="6903720" y="2103120"/>
            <a:ext cx="1920240" cy="411480"/>
          </a:xfrm>
          <a:prstGeom prst="roundRect">
            <a:avLst>
              <a:gd name="adj" fmla="val 22222"/>
            </a:avLst>
          </a:prstGeom>
          <a:solidFill>
            <a:srgbClr val="7B1FA2">
              <a:alpha val="70000"/>
            </a:srgbClr>
          </a:solidFill>
          <a:ln w="12700">
            <a:solidFill>
              <a:srgbClr val="7B1FA2"/>
            </a:solidFill>
            <a:prstDash val="solid"/>
          </a:ln>
        </p:spPr>
      </p:sp>
      <p:sp>
        <p:nvSpPr>
          <p:cNvPr id="17" name="Text 14"/>
          <p:cNvSpPr/>
          <p:nvPr/>
        </p:nvSpPr>
        <p:spPr>
          <a:xfrm>
            <a:off x="6903720" y="2103120"/>
            <a:ext cx="192024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Coverage Prediction</a:t>
            </a:r>
            <a:endParaRPr lang="en-US" sz="1100" dirty="0"/>
          </a:p>
        </p:txBody>
      </p:sp>
      <p:sp>
        <p:nvSpPr>
          <p:cNvPr id="18" name="Shape 15"/>
          <p:cNvSpPr/>
          <p:nvPr/>
        </p:nvSpPr>
        <p:spPr>
          <a:xfrm>
            <a:off x="4846320" y="2743200"/>
            <a:ext cx="4023360" cy="411480"/>
          </a:xfrm>
          <a:prstGeom prst="roundRect">
            <a:avLst>
              <a:gd name="adj" fmla="val 22222"/>
            </a:avLst>
          </a:prstGeom>
          <a:solidFill>
            <a:srgbClr val="2E7D32">
              <a:alpha val="70000"/>
            </a:srgbClr>
          </a:solidFill>
          <a:ln w="12700">
            <a:solidFill>
              <a:srgbClr val="2E7D32"/>
            </a:solidFill>
            <a:prstDash val="solid"/>
          </a:ln>
        </p:spPr>
      </p:sp>
      <p:sp>
        <p:nvSpPr>
          <p:cNvPr id="19" name="Text 16"/>
          <p:cNvSpPr/>
          <p:nvPr/>
        </p:nvSpPr>
        <p:spPr>
          <a:xfrm>
            <a:off x="4846320" y="2743200"/>
            <a:ext cx="40233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Collection</a:t>
            </a:r>
            <a:endParaRPr lang="en-US" sz="1100" dirty="0"/>
          </a:p>
        </p:txBody>
      </p:sp>
      <p:sp>
        <p:nvSpPr>
          <p:cNvPr id="21" name="Text 18"/>
          <p:cNvSpPr/>
          <p:nvPr/>
        </p:nvSpPr>
        <p:spPr>
          <a:xfrm>
            <a:off x="6903720" y="2743200"/>
            <a:ext cx="1920240" cy="411480"/>
          </a:xfrm>
          <a:prstGeom prst="rect">
            <a:avLst/>
          </a:prstGeom>
          <a:noFill/>
        </p:spPr>
        <p:txBody>
          <a:bodyPr wrap="square" lIns="0" tIns="0" rIns="0" bIns="0" rtlCol="0" anchor="ctr"/>
          <a:lstStyle/>
          <a:p>
            <a:pPr marL="0" indent="0" algn="ctr">
              <a:buNone/>
            </a:pPr>
            <a:endParaRPr lang="en-US" sz="1100" dirty="0"/>
          </a:p>
        </p:txBody>
      </p:sp>
      <p:sp>
        <p:nvSpPr>
          <p:cNvPr id="22" name="Shape 19"/>
          <p:cNvSpPr/>
          <p:nvPr/>
        </p:nvSpPr>
        <p:spPr>
          <a:xfrm>
            <a:off x="4846320" y="3566160"/>
            <a:ext cx="4023360" cy="1234440"/>
          </a:xfrm>
          <a:prstGeom prst="roundRect">
            <a:avLst>
              <a:gd name="adj" fmla="val 8889"/>
            </a:avLst>
          </a:prstGeom>
          <a:solidFill>
            <a:srgbClr val="132040"/>
          </a:solidFill>
          <a:effectLst>
            <a:outerShdw blurRad="127000" dist="38100" dir="2700000" algn="bl" rotWithShape="0">
              <a:srgbClr val="000000">
                <a:alpha val="25000"/>
              </a:srgbClr>
            </a:outerShdw>
          </a:effectLst>
        </p:spPr>
      </p:sp>
      <p:sp>
        <p:nvSpPr>
          <p:cNvPr id="23" name="Text 20"/>
          <p:cNvSpPr/>
          <p:nvPr/>
        </p:nvSpPr>
        <p:spPr>
          <a:xfrm>
            <a:off x="4983480" y="3657600"/>
            <a:ext cx="3749040" cy="256032"/>
          </a:xfrm>
          <a:prstGeom prst="rect">
            <a:avLst/>
          </a:prstGeom>
          <a:noFill/>
        </p:spPr>
        <p:txBody>
          <a:bodyPr wrap="square" rtlCol="0" anchor="ctr"/>
          <a:lstStyle/>
          <a:p>
            <a:pPr marL="0" indent="0">
              <a:buNone/>
            </a:pPr>
            <a:r>
              <a:rPr lang="en-US" sz="1000" b="1" dirty="0">
                <a:solidFill>
                  <a:srgbClr val="00897B"/>
                </a:solidFill>
                <a:latin typeface="Calibri" panose="020F0502020204030204" pitchFamily="34" charset="0"/>
                <a:ea typeface="Calibri" panose="020F0502020204030204" pitchFamily="34" charset="-122"/>
                <a:cs typeface="Calibri" panose="020F0502020204030204" pitchFamily="34" charset="-120"/>
              </a:rPr>
              <a:t>Overall branding promotes:</a:t>
            </a:r>
            <a:endParaRPr lang="en-US" sz="1000" dirty="0"/>
          </a:p>
        </p:txBody>
      </p:sp>
      <p:sp>
        <p:nvSpPr>
          <p:cNvPr id="24" name="Text 21"/>
          <p:cNvSpPr/>
          <p:nvPr/>
        </p:nvSpPr>
        <p:spPr>
          <a:xfrm>
            <a:off x="4983480" y="3931920"/>
            <a:ext cx="3749040" cy="256032"/>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Trust  ·  Reliability  ·  Technical Sophistication</a:t>
            </a:r>
            <a:endParaRPr lang="en-US" sz="1100" dirty="0"/>
          </a:p>
        </p:txBody>
      </p:sp>
      <p:sp>
        <p:nvSpPr>
          <p:cNvPr id="25" name="Text 22"/>
          <p:cNvSpPr/>
          <p:nvPr/>
        </p:nvSpPr>
        <p:spPr>
          <a:xfrm>
            <a:off x="4983480" y="4206240"/>
            <a:ext cx="3749040" cy="41148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Essential qualities for a professional network monitoring platform.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VISUAL DESIGN SYSTEM</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0A1628"/>
                </a:solidFill>
                <a:latin typeface="Calibri" panose="020F0502020204030204" pitchFamily="34" charset="0"/>
                <a:ea typeface="Calibri" panose="020F0502020204030204" pitchFamily="34" charset="-122"/>
                <a:cs typeface="Calibri" panose="020F0502020204030204" pitchFamily="34" charset="-120"/>
              </a:rPr>
              <a:t>Color Palette &amp; Typography</a:t>
            </a:r>
            <a:endParaRPr lang="en-US" sz="3000" dirty="0"/>
          </a:p>
        </p:txBody>
      </p:sp>
      <p:sp>
        <p:nvSpPr>
          <p:cNvPr id="5" name="Text 3"/>
          <p:cNvSpPr/>
          <p:nvPr/>
        </p:nvSpPr>
        <p:spPr>
          <a:xfrm>
            <a:off x="365760" y="1188720"/>
            <a:ext cx="2743200" cy="256032"/>
          </a:xfrm>
          <a:prstGeom prst="rect">
            <a:avLst/>
          </a:prstGeom>
          <a:noFill/>
        </p:spPr>
        <p:txBody>
          <a:bodyPr wrap="square" rtlCol="0" anchor="ctr"/>
          <a:lstStyle/>
          <a:p>
            <a:pPr marL="0" indent="0">
              <a:buNone/>
            </a:pPr>
            <a:r>
              <a:rPr lang="en-US" sz="900" b="1" kern="0" spc="200" dirty="0">
                <a:solidFill>
                  <a:srgbClr val="546E7A"/>
                </a:solidFill>
                <a:latin typeface="Calibri" panose="020F0502020204030204" pitchFamily="34" charset="0"/>
                <a:ea typeface="Calibri" panose="020F0502020204030204" pitchFamily="34" charset="-122"/>
                <a:cs typeface="Calibri" panose="020F0502020204030204" pitchFamily="34" charset="-120"/>
              </a:rPr>
              <a:t>COLOR IDENTITY</a:t>
            </a:r>
            <a:endParaRPr lang="en-US" sz="900" dirty="0"/>
          </a:p>
        </p:txBody>
      </p:sp>
      <p:sp>
        <p:nvSpPr>
          <p:cNvPr id="6" name="Shape 4"/>
          <p:cNvSpPr/>
          <p:nvPr/>
        </p:nvSpPr>
        <p:spPr>
          <a:xfrm>
            <a:off x="365760" y="1508760"/>
            <a:ext cx="1554480" cy="914400"/>
          </a:xfrm>
          <a:prstGeom prst="roundRect">
            <a:avLst>
              <a:gd name="adj" fmla="val 10000"/>
            </a:avLst>
          </a:prstGeom>
          <a:solidFill>
            <a:srgbClr val="1565C0"/>
          </a:solidFill>
          <a:ln w="12700">
            <a:solidFill>
              <a:srgbClr val="1565C0"/>
            </a:solidFill>
            <a:prstDash val="solid"/>
          </a:ln>
          <a:effectLst>
            <a:outerShdw blurRad="76200" dist="25400" dir="2700000" algn="bl" rotWithShape="0">
              <a:srgbClr val="000000">
                <a:alpha val="15000"/>
              </a:srgbClr>
            </a:outerShdw>
          </a:effectLst>
        </p:spPr>
      </p:sp>
      <p:sp>
        <p:nvSpPr>
          <p:cNvPr id="7" name="Text 5"/>
          <p:cNvSpPr/>
          <p:nvPr/>
        </p:nvSpPr>
        <p:spPr>
          <a:xfrm>
            <a:off x="365760" y="2487168"/>
            <a:ext cx="1554480" cy="256032"/>
          </a:xfrm>
          <a:prstGeom prst="rect">
            <a:avLst/>
          </a:prstGeom>
          <a:noFill/>
        </p:spPr>
        <p:txBody>
          <a:bodyPr wrap="square" rtlCol="0" anchor="ctr"/>
          <a:lstStyle/>
          <a:p>
            <a:pPr marL="0" indent="0" algn="ctr">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Blue</a:t>
            </a:r>
            <a:endParaRPr lang="en-US" sz="1100" dirty="0"/>
          </a:p>
        </p:txBody>
      </p:sp>
      <p:sp>
        <p:nvSpPr>
          <p:cNvPr id="8" name="Text 6"/>
          <p:cNvSpPr/>
          <p:nvPr/>
        </p:nvSpPr>
        <p:spPr>
          <a:xfrm>
            <a:off x="365760" y="2743200"/>
            <a:ext cx="1554480" cy="502920"/>
          </a:xfrm>
          <a:prstGeom prst="rect">
            <a:avLst/>
          </a:prstGeom>
          <a:noFill/>
        </p:spPr>
        <p:txBody>
          <a:bodyPr wrap="square" rtlCol="0" anchor="ctr"/>
          <a:lstStyle/>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Trust, Communication</a:t>
            </a:r>
            <a:endParaRPr lang="en-US" sz="900" dirty="0"/>
          </a:p>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&amp; Reliability</a:t>
            </a:r>
            <a:endParaRPr lang="en-US" sz="900" dirty="0"/>
          </a:p>
        </p:txBody>
      </p:sp>
      <p:sp>
        <p:nvSpPr>
          <p:cNvPr id="9" name="Shape 7"/>
          <p:cNvSpPr/>
          <p:nvPr/>
        </p:nvSpPr>
        <p:spPr>
          <a:xfrm>
            <a:off x="2057400" y="1508760"/>
            <a:ext cx="1554480" cy="914400"/>
          </a:xfrm>
          <a:prstGeom prst="roundRect">
            <a:avLst>
              <a:gd name="adj" fmla="val 10000"/>
            </a:avLst>
          </a:prstGeom>
          <a:solidFill>
            <a:srgbClr val="2E7D32"/>
          </a:solidFill>
          <a:ln w="12700">
            <a:solidFill>
              <a:srgbClr val="2E7D32"/>
            </a:solidFill>
            <a:prstDash val="solid"/>
          </a:ln>
          <a:effectLst>
            <a:outerShdw blurRad="76200" dist="25400" dir="2700000" algn="bl" rotWithShape="0">
              <a:srgbClr val="000000">
                <a:alpha val="15000"/>
              </a:srgbClr>
            </a:outerShdw>
          </a:effectLst>
        </p:spPr>
      </p:sp>
      <p:sp>
        <p:nvSpPr>
          <p:cNvPr id="10" name="Text 8"/>
          <p:cNvSpPr/>
          <p:nvPr/>
        </p:nvSpPr>
        <p:spPr>
          <a:xfrm>
            <a:off x="2057400" y="2487168"/>
            <a:ext cx="1554480" cy="256032"/>
          </a:xfrm>
          <a:prstGeom prst="rect">
            <a:avLst/>
          </a:prstGeom>
          <a:noFill/>
        </p:spPr>
        <p:txBody>
          <a:bodyPr wrap="square" rtlCol="0" anchor="ctr"/>
          <a:lstStyle/>
          <a:p>
            <a:pPr marL="0" indent="0" algn="ctr">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Green</a:t>
            </a:r>
            <a:endParaRPr lang="en-US" sz="1100" dirty="0"/>
          </a:p>
        </p:txBody>
      </p:sp>
      <p:sp>
        <p:nvSpPr>
          <p:cNvPr id="11" name="Text 9"/>
          <p:cNvSpPr/>
          <p:nvPr/>
        </p:nvSpPr>
        <p:spPr>
          <a:xfrm>
            <a:off x="2057400" y="2743200"/>
            <a:ext cx="1554480" cy="502920"/>
          </a:xfrm>
          <a:prstGeom prst="rect">
            <a:avLst/>
          </a:prstGeom>
          <a:noFill/>
        </p:spPr>
        <p:txBody>
          <a:bodyPr wrap="square" rtlCol="0" anchor="ctr"/>
          <a:lstStyle/>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Network Health &amp;</a:t>
            </a:r>
            <a:endParaRPr lang="en-US" sz="900" dirty="0"/>
          </a:p>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Successful Measurements</a:t>
            </a:r>
            <a:endParaRPr lang="en-US" sz="900" dirty="0"/>
          </a:p>
        </p:txBody>
      </p:sp>
      <p:sp>
        <p:nvSpPr>
          <p:cNvPr id="12" name="Shape 10"/>
          <p:cNvSpPr/>
          <p:nvPr/>
        </p:nvSpPr>
        <p:spPr>
          <a:xfrm>
            <a:off x="3749040" y="1508760"/>
            <a:ext cx="1554480" cy="914400"/>
          </a:xfrm>
          <a:prstGeom prst="roundRect">
            <a:avLst>
              <a:gd name="adj" fmla="val 10000"/>
            </a:avLst>
          </a:prstGeom>
          <a:solidFill>
            <a:srgbClr val="E65100"/>
          </a:solidFill>
          <a:ln w="12700">
            <a:solidFill>
              <a:srgbClr val="E65100"/>
            </a:solidFill>
            <a:prstDash val="solid"/>
          </a:ln>
          <a:effectLst>
            <a:outerShdw blurRad="76200" dist="25400" dir="2700000" algn="bl" rotWithShape="0">
              <a:srgbClr val="000000">
                <a:alpha val="15000"/>
              </a:srgbClr>
            </a:outerShdw>
          </a:effectLst>
        </p:spPr>
      </p:sp>
      <p:sp>
        <p:nvSpPr>
          <p:cNvPr id="13" name="Text 11"/>
          <p:cNvSpPr/>
          <p:nvPr/>
        </p:nvSpPr>
        <p:spPr>
          <a:xfrm>
            <a:off x="3749040" y="2487168"/>
            <a:ext cx="1554480" cy="256032"/>
          </a:xfrm>
          <a:prstGeom prst="rect">
            <a:avLst/>
          </a:prstGeom>
          <a:noFill/>
        </p:spPr>
        <p:txBody>
          <a:bodyPr wrap="square" rtlCol="0" anchor="ctr"/>
          <a:lstStyle/>
          <a:p>
            <a:pPr marL="0" indent="0" algn="ctr">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Orange</a:t>
            </a:r>
            <a:endParaRPr lang="en-US" sz="1100" dirty="0"/>
          </a:p>
        </p:txBody>
      </p:sp>
      <p:sp>
        <p:nvSpPr>
          <p:cNvPr id="14" name="Text 12"/>
          <p:cNvSpPr/>
          <p:nvPr/>
        </p:nvSpPr>
        <p:spPr>
          <a:xfrm>
            <a:off x="3749040" y="2743200"/>
            <a:ext cx="1554480" cy="502920"/>
          </a:xfrm>
          <a:prstGeom prst="rect">
            <a:avLst/>
          </a:prstGeom>
          <a:noFill/>
        </p:spPr>
        <p:txBody>
          <a:bodyPr wrap="square" rtlCol="0" anchor="ctr"/>
          <a:lstStyle/>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Warnings &amp; Weak</a:t>
            </a:r>
            <a:endParaRPr lang="en-US" sz="900" dirty="0"/>
          </a:p>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Signal Conditions</a:t>
            </a:r>
            <a:endParaRPr lang="en-US" sz="900" dirty="0"/>
          </a:p>
        </p:txBody>
      </p:sp>
      <p:sp>
        <p:nvSpPr>
          <p:cNvPr id="15" name="Shape 13"/>
          <p:cNvSpPr/>
          <p:nvPr/>
        </p:nvSpPr>
        <p:spPr>
          <a:xfrm>
            <a:off x="5440680" y="1508760"/>
            <a:ext cx="1554480" cy="914400"/>
          </a:xfrm>
          <a:prstGeom prst="roundRect">
            <a:avLst>
              <a:gd name="adj" fmla="val 10000"/>
            </a:avLst>
          </a:prstGeom>
          <a:solidFill>
            <a:srgbClr val="C62828"/>
          </a:solidFill>
          <a:ln w="12700">
            <a:solidFill>
              <a:srgbClr val="C62828"/>
            </a:solidFill>
            <a:prstDash val="solid"/>
          </a:ln>
          <a:effectLst>
            <a:outerShdw blurRad="76200" dist="25400" dir="2700000" algn="bl" rotWithShape="0">
              <a:srgbClr val="000000">
                <a:alpha val="15000"/>
              </a:srgbClr>
            </a:outerShdw>
          </a:effectLst>
        </p:spPr>
      </p:sp>
      <p:sp>
        <p:nvSpPr>
          <p:cNvPr id="16" name="Text 14"/>
          <p:cNvSpPr/>
          <p:nvPr/>
        </p:nvSpPr>
        <p:spPr>
          <a:xfrm>
            <a:off x="5440680" y="2487168"/>
            <a:ext cx="1554480" cy="256032"/>
          </a:xfrm>
          <a:prstGeom prst="rect">
            <a:avLst/>
          </a:prstGeom>
          <a:noFill/>
        </p:spPr>
        <p:txBody>
          <a:bodyPr wrap="square" rtlCol="0" anchor="ctr"/>
          <a:lstStyle/>
          <a:p>
            <a:pPr marL="0" indent="0" algn="ctr">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Red</a:t>
            </a:r>
            <a:endParaRPr lang="en-US" sz="1100" dirty="0"/>
          </a:p>
        </p:txBody>
      </p:sp>
      <p:sp>
        <p:nvSpPr>
          <p:cNvPr id="17" name="Text 15"/>
          <p:cNvSpPr/>
          <p:nvPr/>
        </p:nvSpPr>
        <p:spPr>
          <a:xfrm>
            <a:off x="5440680" y="2743200"/>
            <a:ext cx="1554480" cy="502920"/>
          </a:xfrm>
          <a:prstGeom prst="rect">
            <a:avLst/>
          </a:prstGeom>
          <a:noFill/>
        </p:spPr>
        <p:txBody>
          <a:bodyPr wrap="square" rtlCol="0" anchor="ctr"/>
          <a:lstStyle/>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Coverage Holes &amp;</a:t>
            </a:r>
            <a:endParaRPr lang="en-US" sz="900" dirty="0"/>
          </a:p>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Poor Network Areas</a:t>
            </a:r>
            <a:endParaRPr lang="en-US" sz="900" dirty="0"/>
          </a:p>
        </p:txBody>
      </p:sp>
      <p:sp>
        <p:nvSpPr>
          <p:cNvPr id="18" name="Shape 16"/>
          <p:cNvSpPr/>
          <p:nvPr/>
        </p:nvSpPr>
        <p:spPr>
          <a:xfrm>
            <a:off x="7132320" y="1508760"/>
            <a:ext cx="1554480" cy="914400"/>
          </a:xfrm>
          <a:prstGeom prst="roundRect">
            <a:avLst>
              <a:gd name="adj" fmla="val 10000"/>
            </a:avLst>
          </a:prstGeom>
          <a:solidFill>
            <a:srgbClr val="FFFFFF"/>
          </a:solidFill>
          <a:ln w="12700">
            <a:solidFill>
              <a:srgbClr val="BDBDBD"/>
            </a:solidFill>
            <a:prstDash val="solid"/>
          </a:ln>
          <a:effectLst>
            <a:outerShdw blurRad="76200" dist="25400" dir="2700000" algn="bl" rotWithShape="0">
              <a:srgbClr val="000000">
                <a:alpha val="15000"/>
              </a:srgbClr>
            </a:outerShdw>
          </a:effectLst>
        </p:spPr>
      </p:sp>
      <p:sp>
        <p:nvSpPr>
          <p:cNvPr id="19" name="Text 17"/>
          <p:cNvSpPr/>
          <p:nvPr/>
        </p:nvSpPr>
        <p:spPr>
          <a:xfrm>
            <a:off x="7132320" y="2487168"/>
            <a:ext cx="1554480" cy="256032"/>
          </a:xfrm>
          <a:prstGeom prst="rect">
            <a:avLst/>
          </a:prstGeom>
          <a:noFill/>
        </p:spPr>
        <p:txBody>
          <a:bodyPr wrap="square" rtlCol="0" anchor="ctr"/>
          <a:lstStyle/>
          <a:p>
            <a:pPr marL="0" indent="0" algn="ctr">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White</a:t>
            </a:r>
            <a:endParaRPr lang="en-US" sz="1100" dirty="0"/>
          </a:p>
        </p:txBody>
      </p:sp>
      <p:sp>
        <p:nvSpPr>
          <p:cNvPr id="20" name="Text 18"/>
          <p:cNvSpPr/>
          <p:nvPr/>
        </p:nvSpPr>
        <p:spPr>
          <a:xfrm>
            <a:off x="7132320" y="2743200"/>
            <a:ext cx="1554480" cy="502920"/>
          </a:xfrm>
          <a:prstGeom prst="rect">
            <a:avLst/>
          </a:prstGeom>
          <a:noFill/>
        </p:spPr>
        <p:txBody>
          <a:bodyPr wrap="square" rtlCol="0" anchor="ctr"/>
          <a:lstStyle/>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Clean, Readable</a:t>
            </a:r>
            <a:endParaRPr lang="en-US" sz="900" dirty="0"/>
          </a:p>
          <a:p>
            <a:pPr marL="0" indent="0" algn="ctr">
              <a:buNone/>
            </a:pPr>
            <a:r>
              <a:rPr lang="en-US" sz="900" dirty="0">
                <a:solidFill>
                  <a:srgbClr val="546E7A"/>
                </a:solidFill>
                <a:latin typeface="Calibri" panose="020F0502020204030204" pitchFamily="34" charset="0"/>
                <a:ea typeface="Calibri" panose="020F0502020204030204" pitchFamily="34" charset="-122"/>
                <a:cs typeface="Calibri" panose="020F0502020204030204" pitchFamily="34" charset="-120"/>
              </a:rPr>
              <a:t>Interface Background</a:t>
            </a:r>
            <a:endParaRPr lang="en-US" sz="900" dirty="0"/>
          </a:p>
        </p:txBody>
      </p:sp>
      <p:sp>
        <p:nvSpPr>
          <p:cNvPr id="21" name="Text 19"/>
          <p:cNvSpPr/>
          <p:nvPr/>
        </p:nvSpPr>
        <p:spPr>
          <a:xfrm>
            <a:off x="365760" y="3337560"/>
            <a:ext cx="2743200" cy="256032"/>
          </a:xfrm>
          <a:prstGeom prst="rect">
            <a:avLst/>
          </a:prstGeom>
          <a:noFill/>
        </p:spPr>
        <p:txBody>
          <a:bodyPr wrap="square" rtlCol="0" anchor="ctr"/>
          <a:lstStyle/>
          <a:p>
            <a:pPr marL="0" indent="0">
              <a:buNone/>
            </a:pPr>
            <a:r>
              <a:rPr lang="en-US" sz="900" b="1" kern="0" spc="200" dirty="0">
                <a:solidFill>
                  <a:srgbClr val="546E7A"/>
                </a:solidFill>
                <a:latin typeface="Calibri" panose="020F0502020204030204" pitchFamily="34" charset="0"/>
                <a:ea typeface="Calibri" panose="020F0502020204030204" pitchFamily="34" charset="-122"/>
                <a:cs typeface="Calibri" panose="020F0502020204030204" pitchFamily="34" charset="-120"/>
              </a:rPr>
              <a:t>TYPOGRAPHIC OBJECTIVES</a:t>
            </a:r>
            <a:endParaRPr lang="en-US" sz="900" dirty="0"/>
          </a:p>
        </p:txBody>
      </p:sp>
      <p:sp>
        <p:nvSpPr>
          <p:cNvPr id="22" name="Shape 20"/>
          <p:cNvSpPr/>
          <p:nvPr/>
        </p:nvSpPr>
        <p:spPr>
          <a:xfrm>
            <a:off x="365760" y="3657600"/>
            <a:ext cx="4023360" cy="530352"/>
          </a:xfrm>
          <a:prstGeom prst="roundRect">
            <a:avLst>
              <a:gd name="adj" fmla="val 13793"/>
            </a:avLst>
          </a:prstGeom>
          <a:solidFill>
            <a:srgbClr val="FFFFFF"/>
          </a:solidFill>
          <a:effectLst>
            <a:outerShdw blurRad="50800" dist="12700" dir="2700000" algn="bl" rotWithShape="0">
              <a:srgbClr val="000000">
                <a:alpha val="10000"/>
              </a:srgbClr>
            </a:outerShdw>
          </a:effectLst>
        </p:spPr>
      </p:sp>
      <p:sp>
        <p:nvSpPr>
          <p:cNvPr id="23" name="Text 21"/>
          <p:cNvSpPr/>
          <p:nvPr/>
        </p:nvSpPr>
        <p:spPr>
          <a:xfrm>
            <a:off x="475488" y="3703320"/>
            <a:ext cx="3840480" cy="43891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Readability: </a:t>
            </a:r>
            <a:r>
              <a:rPr lang="en-US" sz="1000" dirty="0">
                <a:solidFill>
                  <a:srgbClr val="546E7A"/>
                </a:solidFill>
                <a:latin typeface="Calibri" panose="020F0502020204030204" pitchFamily="34" charset="0"/>
                <a:ea typeface="Calibri" panose="020F0502020204030204" pitchFamily="34" charset="-122"/>
                <a:cs typeface="Calibri" panose="020F0502020204030204" pitchFamily="34" charset="-120"/>
              </a:rPr>
              <a:t>Clear font sizes, spacing &amp; visual hierarchy for quick metric interpretation</a:t>
            </a:r>
            <a:endParaRPr lang="en-US" sz="1000" dirty="0"/>
          </a:p>
        </p:txBody>
      </p:sp>
      <p:sp>
        <p:nvSpPr>
          <p:cNvPr id="24" name="Shape 22"/>
          <p:cNvSpPr/>
          <p:nvPr/>
        </p:nvSpPr>
        <p:spPr>
          <a:xfrm>
            <a:off x="4754880" y="3657600"/>
            <a:ext cx="4023360" cy="530352"/>
          </a:xfrm>
          <a:prstGeom prst="roundRect">
            <a:avLst>
              <a:gd name="adj" fmla="val 13793"/>
            </a:avLst>
          </a:prstGeom>
          <a:solidFill>
            <a:srgbClr val="FFFFFF"/>
          </a:solidFill>
          <a:effectLst>
            <a:outerShdw blurRad="50800" dist="12700" dir="2700000" algn="bl" rotWithShape="0">
              <a:srgbClr val="000000">
                <a:alpha val="10000"/>
              </a:srgbClr>
            </a:outerShdw>
          </a:effectLst>
        </p:spPr>
      </p:sp>
      <p:sp>
        <p:nvSpPr>
          <p:cNvPr id="25" name="Text 23"/>
          <p:cNvSpPr/>
          <p:nvPr/>
        </p:nvSpPr>
        <p:spPr>
          <a:xfrm>
            <a:off x="4864608" y="3703320"/>
            <a:ext cx="3840480" cy="43891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Consistency: </a:t>
            </a:r>
            <a:r>
              <a:rPr lang="en-US" sz="1000" dirty="0">
                <a:solidFill>
                  <a:srgbClr val="546E7A"/>
                </a:solidFill>
                <a:latin typeface="Calibri" panose="020F0502020204030204" pitchFamily="34" charset="0"/>
                <a:ea typeface="Calibri" panose="020F0502020204030204" pitchFamily="34" charset="-122"/>
                <a:cs typeface="Calibri" panose="020F0502020204030204" pitchFamily="34" charset="-120"/>
              </a:rPr>
              <a:t>Uniform layouts, colors, and navigation patterns throughout the app</a:t>
            </a:r>
            <a:endParaRPr lang="en-US" sz="1000" dirty="0"/>
          </a:p>
        </p:txBody>
      </p:sp>
      <p:sp>
        <p:nvSpPr>
          <p:cNvPr id="26" name="Shape 24"/>
          <p:cNvSpPr/>
          <p:nvPr/>
        </p:nvSpPr>
        <p:spPr>
          <a:xfrm>
            <a:off x="365760" y="4251960"/>
            <a:ext cx="4023360" cy="530352"/>
          </a:xfrm>
          <a:prstGeom prst="roundRect">
            <a:avLst>
              <a:gd name="adj" fmla="val 13793"/>
            </a:avLst>
          </a:prstGeom>
          <a:solidFill>
            <a:srgbClr val="FFFFFF"/>
          </a:solidFill>
          <a:effectLst>
            <a:outerShdw blurRad="50800" dist="12700" dir="2700000" algn="bl" rotWithShape="0">
              <a:srgbClr val="000000">
                <a:alpha val="10000"/>
              </a:srgbClr>
            </a:outerShdw>
          </a:effectLst>
        </p:spPr>
      </p:sp>
      <p:sp>
        <p:nvSpPr>
          <p:cNvPr id="27" name="Text 25"/>
          <p:cNvSpPr/>
          <p:nvPr/>
        </p:nvSpPr>
        <p:spPr>
          <a:xfrm>
            <a:off x="475488" y="4297680"/>
            <a:ext cx="3840480" cy="43891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Accessibility: </a:t>
            </a:r>
            <a:r>
              <a:rPr lang="en-US" sz="1000" dirty="0">
                <a:solidFill>
                  <a:srgbClr val="546E7A"/>
                </a:solidFill>
                <a:latin typeface="Calibri" panose="020F0502020204030204" pitchFamily="34" charset="0"/>
                <a:ea typeface="Calibri" panose="020F0502020204030204" pitchFamily="34" charset="-122"/>
                <a:cs typeface="Calibri" panose="020F0502020204030204" pitchFamily="34" charset="-120"/>
              </a:rPr>
              <a:t>Sufficient color contrast, touch-friendly controls for broad user participation</a:t>
            </a:r>
            <a:endParaRPr lang="en-US" sz="1000" dirty="0"/>
          </a:p>
        </p:txBody>
      </p:sp>
      <p:sp>
        <p:nvSpPr>
          <p:cNvPr id="28" name="Shape 26"/>
          <p:cNvSpPr/>
          <p:nvPr/>
        </p:nvSpPr>
        <p:spPr>
          <a:xfrm>
            <a:off x="4754880" y="4251960"/>
            <a:ext cx="4023360" cy="530352"/>
          </a:xfrm>
          <a:prstGeom prst="roundRect">
            <a:avLst>
              <a:gd name="adj" fmla="val 13793"/>
            </a:avLst>
          </a:prstGeom>
          <a:solidFill>
            <a:srgbClr val="FFFFFF"/>
          </a:solidFill>
          <a:effectLst>
            <a:outerShdw blurRad="50800" dist="12700" dir="2700000" algn="bl" rotWithShape="0">
              <a:srgbClr val="000000">
                <a:alpha val="10000"/>
              </a:srgbClr>
            </a:outerShdw>
          </a:effectLst>
        </p:spPr>
      </p:sp>
      <p:sp>
        <p:nvSpPr>
          <p:cNvPr id="29" name="Text 27"/>
          <p:cNvSpPr/>
          <p:nvPr/>
        </p:nvSpPr>
        <p:spPr>
          <a:xfrm>
            <a:off x="4864608" y="4297680"/>
            <a:ext cx="3840480" cy="43891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Professional Appearance: </a:t>
            </a:r>
            <a:r>
              <a:rPr lang="en-US" sz="1000" dirty="0">
                <a:solidFill>
                  <a:srgbClr val="546E7A"/>
                </a:solidFill>
                <a:latin typeface="Calibri" panose="020F0502020204030204" pitchFamily="34" charset="0"/>
                <a:ea typeface="Calibri" panose="020F0502020204030204" pitchFamily="34" charset="-122"/>
                <a:cs typeface="Calibri" panose="020F0502020204030204" pitchFamily="34" charset="-120"/>
              </a:rPr>
              <a:t>Clean layouts and well-chosen color scheme to build user confidence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NAVIGATION DESIGN</a:t>
            </a:r>
            <a:endParaRPr lang="en-US" sz="900" dirty="0"/>
          </a:p>
        </p:txBody>
      </p:sp>
      <p:sp>
        <p:nvSpPr>
          <p:cNvPr id="4" name="Text 2"/>
          <p:cNvSpPr/>
          <p:nvPr/>
        </p:nvSpPr>
        <p:spPr>
          <a:xfrm>
            <a:off x="365760" y="594360"/>
            <a:ext cx="8412480" cy="50292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Navigation Architecture &amp; Design Approach</a:t>
            </a:r>
            <a:endParaRPr lang="en-US" sz="2800" dirty="0"/>
          </a:p>
        </p:txBody>
      </p:sp>
      <p:sp>
        <p:nvSpPr>
          <p:cNvPr id="5" name="Text 3"/>
          <p:cNvSpPr/>
          <p:nvPr/>
        </p:nvSpPr>
        <p:spPr>
          <a:xfrm>
            <a:off x="365760" y="1234440"/>
            <a:ext cx="3657600" cy="256032"/>
          </a:xfrm>
          <a:prstGeom prst="rect">
            <a:avLst/>
          </a:prstGeom>
          <a:noFill/>
        </p:spPr>
        <p:txBody>
          <a:bodyPr wrap="square" rtlCol="0" anchor="ctr"/>
          <a:lstStyle/>
          <a:p>
            <a:pPr marL="0" indent="0">
              <a:buNone/>
            </a:pPr>
            <a:r>
              <a:rPr lang="en-US" sz="900" b="1" kern="0" spc="200" dirty="0">
                <a:solidFill>
                  <a:srgbClr val="00897B"/>
                </a:solidFill>
                <a:latin typeface="Calibri" panose="020F0502020204030204" pitchFamily="34" charset="0"/>
                <a:ea typeface="Calibri" panose="020F0502020204030204" pitchFamily="34" charset="-122"/>
                <a:cs typeface="Calibri" panose="020F0502020204030204" pitchFamily="34" charset="-120"/>
              </a:rPr>
              <a:t>CORE NAVIGATION AREAS</a:t>
            </a:r>
            <a:endParaRPr lang="en-US" sz="900" dirty="0"/>
          </a:p>
        </p:txBody>
      </p:sp>
      <p:sp>
        <p:nvSpPr>
          <p:cNvPr id="6" name="Shape 4"/>
          <p:cNvSpPr/>
          <p:nvPr/>
        </p:nvSpPr>
        <p:spPr>
          <a:xfrm>
            <a:off x="365760" y="155448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7" name="Text 5"/>
          <p:cNvSpPr/>
          <p:nvPr/>
        </p:nvSpPr>
        <p:spPr>
          <a:xfrm>
            <a:off x="457200" y="160020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051560" y="162763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a:t>
            </a:r>
            <a:endParaRPr lang="en-US" sz="1300" dirty="0"/>
          </a:p>
        </p:txBody>
      </p:sp>
      <p:sp>
        <p:nvSpPr>
          <p:cNvPr id="9" name="Text 7"/>
          <p:cNvSpPr/>
          <p:nvPr/>
        </p:nvSpPr>
        <p:spPr>
          <a:xfrm>
            <a:off x="1051560" y="190195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Central control panel</a:t>
            </a:r>
            <a:endParaRPr lang="en-US" sz="1000" dirty="0"/>
          </a:p>
        </p:txBody>
      </p:sp>
      <p:sp>
        <p:nvSpPr>
          <p:cNvPr id="10" name="Shape 8"/>
          <p:cNvSpPr/>
          <p:nvPr/>
        </p:nvSpPr>
        <p:spPr>
          <a:xfrm>
            <a:off x="365760" y="242316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11" name="Text 9"/>
          <p:cNvSpPr/>
          <p:nvPr/>
        </p:nvSpPr>
        <p:spPr>
          <a:xfrm>
            <a:off x="457200" y="246888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1051560" y="249631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Network Monitoring</a:t>
            </a:r>
            <a:endParaRPr lang="en-US" sz="1300" dirty="0"/>
          </a:p>
        </p:txBody>
      </p:sp>
      <p:sp>
        <p:nvSpPr>
          <p:cNvPr id="13" name="Text 11"/>
          <p:cNvSpPr/>
          <p:nvPr/>
        </p:nvSpPr>
        <p:spPr>
          <a:xfrm>
            <a:off x="1051560" y="277063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Real-time signal data</a:t>
            </a:r>
            <a:endParaRPr lang="en-US" sz="1000" dirty="0"/>
          </a:p>
        </p:txBody>
      </p:sp>
      <p:sp>
        <p:nvSpPr>
          <p:cNvPr id="14" name="Shape 12"/>
          <p:cNvSpPr/>
          <p:nvPr/>
        </p:nvSpPr>
        <p:spPr>
          <a:xfrm>
            <a:off x="365760" y="329184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15" name="Text 13"/>
          <p:cNvSpPr/>
          <p:nvPr/>
        </p:nvSpPr>
        <p:spPr>
          <a:xfrm>
            <a:off x="457200" y="333756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051560" y="336499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Measurement Collection</a:t>
            </a:r>
            <a:endParaRPr lang="en-US" sz="1300" dirty="0"/>
          </a:p>
        </p:txBody>
      </p:sp>
      <p:sp>
        <p:nvSpPr>
          <p:cNvPr id="17" name="Text 15"/>
          <p:cNvSpPr/>
          <p:nvPr/>
        </p:nvSpPr>
        <p:spPr>
          <a:xfrm>
            <a:off x="1051560" y="363931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Data acquisition screen</a:t>
            </a:r>
            <a:endParaRPr lang="en-US" sz="1000" dirty="0"/>
          </a:p>
        </p:txBody>
      </p:sp>
      <p:sp>
        <p:nvSpPr>
          <p:cNvPr id="18" name="Shape 16"/>
          <p:cNvSpPr/>
          <p:nvPr/>
        </p:nvSpPr>
        <p:spPr>
          <a:xfrm>
            <a:off x="4663440" y="155448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19" name="Text 17"/>
          <p:cNvSpPr/>
          <p:nvPr/>
        </p:nvSpPr>
        <p:spPr>
          <a:xfrm>
            <a:off x="4754880" y="160020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5349240" y="162763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Coverage Analysis</a:t>
            </a:r>
            <a:endParaRPr lang="en-US" sz="1300" dirty="0"/>
          </a:p>
        </p:txBody>
      </p:sp>
      <p:sp>
        <p:nvSpPr>
          <p:cNvPr id="21" name="Text 19"/>
          <p:cNvSpPr/>
          <p:nvPr/>
        </p:nvSpPr>
        <p:spPr>
          <a:xfrm>
            <a:off x="5349240" y="190195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Map-based visualization</a:t>
            </a:r>
            <a:endParaRPr lang="en-US" sz="1000" dirty="0"/>
          </a:p>
        </p:txBody>
      </p:sp>
      <p:sp>
        <p:nvSpPr>
          <p:cNvPr id="22" name="Shape 20"/>
          <p:cNvSpPr/>
          <p:nvPr/>
        </p:nvSpPr>
        <p:spPr>
          <a:xfrm>
            <a:off x="4663440" y="242316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23" name="Text 21"/>
          <p:cNvSpPr/>
          <p:nvPr/>
        </p:nvSpPr>
        <p:spPr>
          <a:xfrm>
            <a:off x="4754880" y="246888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5349240" y="249631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Profile</a:t>
            </a:r>
            <a:endParaRPr lang="en-US" sz="1300" dirty="0"/>
          </a:p>
        </p:txBody>
      </p:sp>
      <p:sp>
        <p:nvSpPr>
          <p:cNvPr id="25" name="Text 23"/>
          <p:cNvSpPr/>
          <p:nvPr/>
        </p:nvSpPr>
        <p:spPr>
          <a:xfrm>
            <a:off x="5349240" y="277063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Preferences &amp; account</a:t>
            </a:r>
            <a:endParaRPr lang="en-US" sz="1000" dirty="0"/>
          </a:p>
        </p:txBody>
      </p:sp>
      <p:sp>
        <p:nvSpPr>
          <p:cNvPr id="26" name="Shape 24"/>
          <p:cNvSpPr/>
          <p:nvPr/>
        </p:nvSpPr>
        <p:spPr>
          <a:xfrm>
            <a:off x="4663440" y="3291840"/>
            <a:ext cx="3931920" cy="731520"/>
          </a:xfrm>
          <a:prstGeom prst="roundRect">
            <a:avLst>
              <a:gd name="adj" fmla="val 15000"/>
            </a:avLst>
          </a:prstGeom>
          <a:solidFill>
            <a:srgbClr val="132040"/>
          </a:solidFill>
          <a:effectLst>
            <a:outerShdw blurRad="127000" dist="38100" dir="2700000" algn="bl" rotWithShape="0">
              <a:srgbClr val="000000">
                <a:alpha val="25000"/>
              </a:srgbClr>
            </a:outerShdw>
          </a:effectLst>
        </p:spPr>
      </p:sp>
      <p:sp>
        <p:nvSpPr>
          <p:cNvPr id="27" name="Text 25"/>
          <p:cNvSpPr/>
          <p:nvPr/>
        </p:nvSpPr>
        <p:spPr>
          <a:xfrm>
            <a:off x="4754880" y="3337560"/>
            <a:ext cx="548640" cy="64008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5349240" y="3364992"/>
            <a:ext cx="310896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Settings</a:t>
            </a:r>
            <a:endParaRPr lang="en-US" sz="1300" dirty="0"/>
          </a:p>
        </p:txBody>
      </p:sp>
      <p:sp>
        <p:nvSpPr>
          <p:cNvPr id="29" name="Text 27"/>
          <p:cNvSpPr/>
          <p:nvPr/>
        </p:nvSpPr>
        <p:spPr>
          <a:xfrm>
            <a:off x="5349240" y="3639312"/>
            <a:ext cx="31089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App configuration</a:t>
            </a:r>
            <a:endParaRPr lang="en-US" sz="1000" dirty="0"/>
          </a:p>
        </p:txBody>
      </p:sp>
      <p:sp>
        <p:nvSpPr>
          <p:cNvPr id="30" name="Text 28"/>
          <p:cNvSpPr/>
          <p:nvPr/>
        </p:nvSpPr>
        <p:spPr>
          <a:xfrm>
            <a:off x="365760" y="4297680"/>
            <a:ext cx="8229600" cy="256032"/>
          </a:xfrm>
          <a:prstGeom prst="rect">
            <a:avLst/>
          </a:prstGeom>
          <a:noFill/>
        </p:spPr>
        <p:txBody>
          <a:bodyPr wrap="square" rtlCol="0" anchor="ctr"/>
          <a:lstStyle/>
          <a:p>
            <a:pPr marL="0" indent="0">
              <a:buNone/>
            </a:pPr>
            <a:endParaRPr lang="en-US" sz="900" dirty="0"/>
          </a:p>
        </p:txBody>
      </p:sp>
      <p:pic>
        <p:nvPicPr>
          <p:cNvPr id="41" name="Picture 40"/>
          <p:cNvPicPr>
            <a:picLocks noChangeAspect="1"/>
          </p:cNvPicPr>
          <p:nvPr/>
        </p:nvPicPr>
        <p:blipFill>
          <a:blip r:embed="rId1"/>
          <a:stretch>
            <a:fillRect/>
          </a:stretch>
        </p:blipFill>
        <p:spPr>
          <a:xfrm>
            <a:off x="2232025" y="4169410"/>
            <a:ext cx="4105910" cy="647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DASHBOARD DESIGN</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0A1628"/>
                </a:solidFill>
                <a:latin typeface="Calibri" panose="020F0502020204030204" pitchFamily="34" charset="0"/>
                <a:ea typeface="Calibri" panose="020F0502020204030204" pitchFamily="34" charset="-122"/>
                <a:cs typeface="Calibri" panose="020F0502020204030204" pitchFamily="34" charset="-120"/>
              </a:rPr>
              <a:t>Dashboard Interface Design</a:t>
            </a:r>
            <a:endParaRPr lang="en-US" sz="3000" dirty="0"/>
          </a:p>
        </p:txBody>
      </p:sp>
      <p:sp>
        <p:nvSpPr>
          <p:cNvPr id="5" name="Text 3"/>
          <p:cNvSpPr/>
          <p:nvPr/>
        </p:nvSpPr>
        <p:spPr>
          <a:xfrm>
            <a:off x="365760" y="1080135"/>
            <a:ext cx="4297680" cy="638810"/>
          </a:xfrm>
          <a:prstGeom prst="rect">
            <a:avLst/>
          </a:prstGeom>
          <a:noFill/>
        </p:spPr>
        <p:txBody>
          <a:bodyPr wrap="square" rtlCol="0" anchor="ctr"/>
          <a:lstStyle/>
          <a:p>
            <a:pPr marL="0" indent="0">
              <a:buNone/>
            </a:pPr>
            <a:r>
              <a:rPr lang="en-US" sz="1100" dirty="0">
                <a:solidFill>
                  <a:srgbClr val="37474F"/>
                </a:solidFill>
                <a:latin typeface="Calibri" panose="020F0502020204030204" pitchFamily="34" charset="0"/>
                <a:ea typeface="Calibri" panose="020F0502020204030204" pitchFamily="34" charset="-122"/>
                <a:cs typeface="Calibri" panose="020F0502020204030204" pitchFamily="34" charset="-120"/>
              </a:rPr>
              <a:t>The dashboard acts as the central control panel of the SignalSense application, giving users an immediate at-a-glance overview of network conditions.</a:t>
            </a:r>
            <a:endParaRPr lang="en-US" sz="1100" dirty="0"/>
          </a:p>
        </p:txBody>
      </p:sp>
      <p:sp>
        <p:nvSpPr>
          <p:cNvPr id="8" name="Text 4"/>
          <p:cNvSpPr/>
          <p:nvPr/>
        </p:nvSpPr>
        <p:spPr>
          <a:xfrm>
            <a:off x="6433820" y="1143000"/>
            <a:ext cx="2435860" cy="255905"/>
          </a:xfrm>
          <a:prstGeom prst="rect">
            <a:avLst/>
          </a:prstGeom>
          <a:noFill/>
        </p:spPr>
        <p:txBody>
          <a:bodyPr wrap="square" rtlCol="0" anchor="ctr"/>
          <a:lstStyle/>
          <a:p>
            <a:pPr marL="0" indent="0">
              <a:buNone/>
            </a:pPr>
            <a:r>
              <a:rPr lang="en-US" sz="900" b="1" kern="0" spc="200" dirty="0">
                <a:solidFill>
                  <a:srgbClr val="546E7A"/>
                </a:solidFill>
                <a:latin typeface="Calibri" panose="020F0502020204030204" pitchFamily="34" charset="0"/>
                <a:ea typeface="Calibri" panose="020F0502020204030204" pitchFamily="34" charset="-122"/>
                <a:cs typeface="Calibri" panose="020F0502020204030204" pitchFamily="34" charset="-120"/>
              </a:rPr>
              <a:t>KEY INFORMATION DISPLAYED</a:t>
            </a:r>
            <a:endParaRPr lang="en-US" sz="900" dirty="0"/>
          </a:p>
        </p:txBody>
      </p:sp>
      <p:sp>
        <p:nvSpPr>
          <p:cNvPr id="9" name="Shape 5"/>
          <p:cNvSpPr/>
          <p:nvPr/>
        </p:nvSpPr>
        <p:spPr>
          <a:xfrm>
            <a:off x="4663440" y="1463040"/>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10" name="Text 6"/>
          <p:cNvSpPr/>
          <p:nvPr/>
        </p:nvSpPr>
        <p:spPr>
          <a:xfrm>
            <a:off x="4754880" y="1463040"/>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11" name="Text 7"/>
          <p:cNvSpPr/>
          <p:nvPr/>
        </p:nvSpPr>
        <p:spPr>
          <a:xfrm>
            <a:off x="5212080" y="1508760"/>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Current Signal Strength</a:t>
            </a:r>
            <a:endParaRPr lang="en-US" sz="1100" dirty="0"/>
          </a:p>
        </p:txBody>
      </p:sp>
      <p:sp>
        <p:nvSpPr>
          <p:cNvPr id="12" name="Text 8"/>
          <p:cNvSpPr/>
          <p:nvPr/>
        </p:nvSpPr>
        <p:spPr>
          <a:xfrm>
            <a:off x="5212080" y="1709928"/>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RSSI &amp; aggregate signal score</a:t>
            </a:r>
            <a:endParaRPr lang="en-US" sz="950" dirty="0"/>
          </a:p>
        </p:txBody>
      </p:sp>
      <p:sp>
        <p:nvSpPr>
          <p:cNvPr id="13" name="Shape 9"/>
          <p:cNvSpPr/>
          <p:nvPr/>
        </p:nvSpPr>
        <p:spPr>
          <a:xfrm>
            <a:off x="4663440" y="2029968"/>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14" name="Text 10"/>
          <p:cNvSpPr/>
          <p:nvPr/>
        </p:nvSpPr>
        <p:spPr>
          <a:xfrm>
            <a:off x="4754880" y="2029968"/>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15" name="Text 11"/>
          <p:cNvSpPr/>
          <p:nvPr/>
        </p:nvSpPr>
        <p:spPr>
          <a:xfrm>
            <a:off x="5212080" y="2075688"/>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GPS Location</a:t>
            </a:r>
            <a:endParaRPr lang="en-US" sz="1100" dirty="0"/>
          </a:p>
        </p:txBody>
      </p:sp>
      <p:sp>
        <p:nvSpPr>
          <p:cNvPr id="16" name="Text 12"/>
          <p:cNvSpPr/>
          <p:nvPr/>
        </p:nvSpPr>
        <p:spPr>
          <a:xfrm>
            <a:off x="5212080" y="2276856"/>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City &amp; coordinates display</a:t>
            </a:r>
            <a:endParaRPr lang="en-US" sz="950" dirty="0"/>
          </a:p>
        </p:txBody>
      </p:sp>
      <p:sp>
        <p:nvSpPr>
          <p:cNvPr id="17" name="Shape 13"/>
          <p:cNvSpPr/>
          <p:nvPr/>
        </p:nvSpPr>
        <p:spPr>
          <a:xfrm>
            <a:off x="4663440" y="2596896"/>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18" name="Text 14"/>
          <p:cNvSpPr/>
          <p:nvPr/>
        </p:nvSpPr>
        <p:spPr>
          <a:xfrm>
            <a:off x="4754880" y="2596896"/>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19" name="Text 15"/>
          <p:cNvSpPr/>
          <p:nvPr/>
        </p:nvSpPr>
        <p:spPr>
          <a:xfrm>
            <a:off x="5212080" y="2642616"/>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Measurement Statistics</a:t>
            </a:r>
            <a:endParaRPr lang="en-US" sz="1100" dirty="0"/>
          </a:p>
        </p:txBody>
      </p:sp>
      <p:sp>
        <p:nvSpPr>
          <p:cNvPr id="20" name="Text 16"/>
          <p:cNvSpPr/>
          <p:nvPr/>
        </p:nvSpPr>
        <p:spPr>
          <a:xfrm>
            <a:off x="5212080" y="2843784"/>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Telemetry record count</a:t>
            </a:r>
            <a:endParaRPr lang="en-US" sz="950" dirty="0"/>
          </a:p>
        </p:txBody>
      </p:sp>
      <p:sp>
        <p:nvSpPr>
          <p:cNvPr id="21" name="Shape 17"/>
          <p:cNvSpPr/>
          <p:nvPr/>
        </p:nvSpPr>
        <p:spPr>
          <a:xfrm>
            <a:off x="4663440" y="3163824"/>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22" name="Text 18"/>
          <p:cNvSpPr/>
          <p:nvPr/>
        </p:nvSpPr>
        <p:spPr>
          <a:xfrm>
            <a:off x="4754880" y="3163824"/>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23" name="Text 19"/>
          <p:cNvSpPr/>
          <p:nvPr/>
        </p:nvSpPr>
        <p:spPr>
          <a:xfrm>
            <a:off x="5212080" y="3209544"/>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Data Sync Status</a:t>
            </a:r>
            <a:endParaRPr lang="en-US" sz="1100" dirty="0"/>
          </a:p>
        </p:txBody>
      </p:sp>
      <p:sp>
        <p:nvSpPr>
          <p:cNvPr id="24" name="Text 20"/>
          <p:cNvSpPr/>
          <p:nvPr/>
        </p:nvSpPr>
        <p:spPr>
          <a:xfrm>
            <a:off x="5212080" y="3410712"/>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Pending uploads &amp; Sync Now</a:t>
            </a:r>
            <a:endParaRPr lang="en-US" sz="950" dirty="0"/>
          </a:p>
        </p:txBody>
      </p:sp>
      <p:sp>
        <p:nvSpPr>
          <p:cNvPr id="25" name="Shape 21"/>
          <p:cNvSpPr/>
          <p:nvPr/>
        </p:nvSpPr>
        <p:spPr>
          <a:xfrm>
            <a:off x="4663440" y="3730752"/>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26" name="Text 22"/>
          <p:cNvSpPr/>
          <p:nvPr/>
        </p:nvSpPr>
        <p:spPr>
          <a:xfrm>
            <a:off x="4754880" y="3730752"/>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27" name="Text 23"/>
          <p:cNvSpPr/>
          <p:nvPr/>
        </p:nvSpPr>
        <p:spPr>
          <a:xfrm>
            <a:off x="5212080" y="3776472"/>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Network Information</a:t>
            </a:r>
            <a:endParaRPr lang="en-US" sz="1100" dirty="0"/>
          </a:p>
        </p:txBody>
      </p:sp>
      <p:sp>
        <p:nvSpPr>
          <p:cNvPr id="28" name="Text 24"/>
          <p:cNvSpPr/>
          <p:nvPr/>
        </p:nvSpPr>
        <p:spPr>
          <a:xfrm>
            <a:off x="5212080" y="3977640"/>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Carrier &amp; technology (4G/5G)</a:t>
            </a:r>
            <a:endParaRPr lang="en-US" sz="950" dirty="0"/>
          </a:p>
        </p:txBody>
      </p:sp>
      <p:sp>
        <p:nvSpPr>
          <p:cNvPr id="29" name="Shape 25"/>
          <p:cNvSpPr/>
          <p:nvPr/>
        </p:nvSpPr>
        <p:spPr>
          <a:xfrm>
            <a:off x="4663440" y="4297680"/>
            <a:ext cx="4206240" cy="475488"/>
          </a:xfrm>
          <a:prstGeom prst="roundRect">
            <a:avLst>
              <a:gd name="adj" fmla="val 15385"/>
            </a:avLst>
          </a:prstGeom>
          <a:solidFill>
            <a:srgbClr val="FFFFFF"/>
          </a:solidFill>
          <a:effectLst>
            <a:outerShdw blurRad="50800" dist="12700" dir="2700000" algn="bl" rotWithShape="0">
              <a:srgbClr val="000000">
                <a:alpha val="10000"/>
              </a:srgbClr>
            </a:outerShdw>
          </a:effectLst>
        </p:spPr>
      </p:sp>
      <p:sp>
        <p:nvSpPr>
          <p:cNvPr id="30" name="Text 26"/>
          <p:cNvSpPr/>
          <p:nvPr/>
        </p:nvSpPr>
        <p:spPr>
          <a:xfrm>
            <a:off x="4754880" y="4297680"/>
            <a:ext cx="411480" cy="475488"/>
          </a:xfrm>
          <a:prstGeom prst="rect">
            <a:avLst/>
          </a:prstGeom>
          <a:noFill/>
        </p:spPr>
        <p:txBody>
          <a:bodyPr wrap="square" rtlCol="0" anchor="ctr"/>
          <a:lstStyle/>
          <a:p>
            <a:pPr marL="0" indent="0" algn="ctr">
              <a:buNone/>
            </a:pPr>
            <a:r>
              <a:rPr lang="en-US" sz="1400" dirty="0">
                <a:solidFill>
                  <a:srgbClr val="000000"/>
                </a:solidFill>
              </a:rPr>
              <a:t>🟢</a:t>
            </a:r>
            <a:endParaRPr lang="en-US" sz="1400" dirty="0"/>
          </a:p>
        </p:txBody>
      </p:sp>
      <p:sp>
        <p:nvSpPr>
          <p:cNvPr id="31" name="Text 27"/>
          <p:cNvSpPr/>
          <p:nvPr/>
        </p:nvSpPr>
        <p:spPr>
          <a:xfrm>
            <a:off x="5212080" y="4343400"/>
            <a:ext cx="3474720" cy="201168"/>
          </a:xfrm>
          <a:prstGeom prst="rect">
            <a:avLst/>
          </a:prstGeom>
          <a:noFill/>
        </p:spPr>
        <p:txBody>
          <a:bodyPr wrap="square" rtlCol="0" anchor="ctr"/>
          <a:lstStyle/>
          <a:p>
            <a:pPr marL="0" indent="0">
              <a:buNone/>
            </a:pPr>
            <a:r>
              <a:rPr lang="en-US" sz="1100" b="1" dirty="0">
                <a:solidFill>
                  <a:srgbClr val="0A1628"/>
                </a:solidFill>
                <a:latin typeface="Calibri" panose="020F0502020204030204" pitchFamily="34" charset="0"/>
                <a:ea typeface="Calibri" panose="020F0502020204030204" pitchFamily="34" charset="-122"/>
                <a:cs typeface="Calibri" panose="020F0502020204030204" pitchFamily="34" charset="-120"/>
              </a:rPr>
              <a:t>Coverage Indicators</a:t>
            </a:r>
            <a:endParaRPr lang="en-US" sz="1100" dirty="0"/>
          </a:p>
        </p:txBody>
      </p:sp>
      <p:sp>
        <p:nvSpPr>
          <p:cNvPr id="32" name="Text 28"/>
          <p:cNvSpPr/>
          <p:nvPr/>
        </p:nvSpPr>
        <p:spPr>
          <a:xfrm>
            <a:off x="5212080" y="4544568"/>
            <a:ext cx="3474720" cy="182880"/>
          </a:xfrm>
          <a:prstGeom prst="rect">
            <a:avLst/>
          </a:prstGeom>
          <a:noFill/>
        </p:spPr>
        <p:txBody>
          <a:bodyPr wrap="square" rtlCol="0" anchor="ctr"/>
          <a:lstStyle/>
          <a:p>
            <a:pPr marL="0" indent="0">
              <a:buNone/>
            </a:pPr>
            <a:r>
              <a:rPr lang="en-US" sz="950" dirty="0">
                <a:solidFill>
                  <a:srgbClr val="78909C"/>
                </a:solidFill>
                <a:latin typeface="Calibri" panose="020F0502020204030204" pitchFamily="34" charset="0"/>
                <a:ea typeface="Calibri" panose="020F0502020204030204" pitchFamily="34" charset="-122"/>
                <a:cs typeface="Calibri" panose="020F0502020204030204" pitchFamily="34" charset="-120"/>
              </a:rPr>
              <a:t>Excellent / Fair / Poor</a:t>
            </a:r>
            <a:endParaRPr lang="en-US" sz="950" dirty="0"/>
          </a:p>
        </p:txBody>
      </p:sp>
      <p:sp>
        <p:nvSpPr>
          <p:cNvPr id="33" name="Shape 29"/>
          <p:cNvSpPr/>
          <p:nvPr/>
        </p:nvSpPr>
        <p:spPr>
          <a:xfrm>
            <a:off x="274320" y="4828032"/>
            <a:ext cx="4206240" cy="201168"/>
          </a:xfrm>
          <a:prstGeom prst="roundRect">
            <a:avLst>
              <a:gd name="adj" fmla="val 27273"/>
            </a:avLst>
          </a:prstGeom>
          <a:solidFill>
            <a:srgbClr val="00897B">
              <a:alpha val="80000"/>
            </a:srgbClr>
          </a:solidFill>
          <a:ln w="12700">
            <a:solidFill>
              <a:srgbClr val="00897B"/>
            </a:solidFill>
            <a:prstDash val="solid"/>
          </a:ln>
        </p:spPr>
      </p:sp>
      <p:sp>
        <p:nvSpPr>
          <p:cNvPr id="34" name="Text 30"/>
          <p:cNvSpPr/>
          <p:nvPr/>
        </p:nvSpPr>
        <p:spPr>
          <a:xfrm>
            <a:off x="274320" y="4828032"/>
            <a:ext cx="4206240" cy="201168"/>
          </a:xfrm>
          <a:prstGeom prst="rect">
            <a:avLst/>
          </a:prstGeom>
          <a:noFill/>
        </p:spPr>
        <p:txBody>
          <a:bodyPr wrap="square" lIns="0" tIns="0" rIns="0" bIns="0" rtlCol="0" anchor="ctr"/>
          <a:lstStyle/>
          <a:p>
            <a:pPr marL="0" indent="0" algn="ctr">
              <a:buNone/>
            </a:pPr>
            <a:r>
              <a:rPr lang="en-US" sz="800" dirty="0">
                <a:solidFill>
                  <a:srgbClr val="0A1628"/>
                </a:solidFill>
                <a:latin typeface="Calibri" panose="020F0502020204030204" pitchFamily="34" charset="0"/>
                <a:ea typeface="Calibri" panose="020F0502020204030204" pitchFamily="34" charset="-122"/>
                <a:cs typeface="Calibri" panose="020F0502020204030204" pitchFamily="34" charset="-120"/>
              </a:rPr>
              <a:t>✏️ Designed in Figma · figma.com/design/rmgpSjdOEEgGXqQf7AJY0j</a:t>
            </a:r>
            <a:endParaRPr lang="en-US" sz="800" dirty="0"/>
          </a:p>
        </p:txBody>
      </p:sp>
      <p:pic>
        <p:nvPicPr>
          <p:cNvPr id="35" name="Picture 34" descr="Screenshot_20260608-220210"/>
          <p:cNvPicPr>
            <a:picLocks noChangeAspect="1"/>
          </p:cNvPicPr>
          <p:nvPr/>
        </p:nvPicPr>
        <p:blipFill>
          <a:blip r:embed="rId1"/>
          <a:stretch>
            <a:fillRect/>
          </a:stretch>
        </p:blipFill>
        <p:spPr>
          <a:xfrm>
            <a:off x="364490" y="1710055"/>
            <a:ext cx="2012950" cy="3020695"/>
          </a:xfrm>
          <a:prstGeom prst="rect">
            <a:avLst/>
          </a:prstGeom>
        </p:spPr>
      </p:pic>
      <p:pic>
        <p:nvPicPr>
          <p:cNvPr id="36" name="Picture 35" descr="Screenshot_20260608-220237"/>
          <p:cNvPicPr>
            <a:picLocks noChangeAspect="1"/>
          </p:cNvPicPr>
          <p:nvPr/>
        </p:nvPicPr>
        <p:blipFill>
          <a:blip r:embed="rId2"/>
          <a:stretch>
            <a:fillRect/>
          </a:stretch>
        </p:blipFill>
        <p:spPr>
          <a:xfrm>
            <a:off x="2568575" y="1718945"/>
            <a:ext cx="1771015" cy="29806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DATA COLLECTION</a:t>
            </a:r>
            <a:endParaRPr lang="en-US" sz="900" dirty="0"/>
          </a:p>
        </p:txBody>
      </p:sp>
      <p:sp>
        <p:nvSpPr>
          <p:cNvPr id="4" name="Text 2"/>
          <p:cNvSpPr/>
          <p:nvPr/>
        </p:nvSpPr>
        <p:spPr>
          <a:xfrm>
            <a:off x="365760" y="594360"/>
            <a:ext cx="8412480" cy="50292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Network Measurement Collection Screen</a:t>
            </a:r>
            <a:endParaRPr lang="en-US" sz="2800" dirty="0"/>
          </a:p>
        </p:txBody>
      </p:sp>
      <p:sp>
        <p:nvSpPr>
          <p:cNvPr id="7" name="Text 3"/>
          <p:cNvSpPr/>
          <p:nvPr/>
        </p:nvSpPr>
        <p:spPr>
          <a:xfrm>
            <a:off x="5212080" y="1143000"/>
            <a:ext cx="3657600" cy="256032"/>
          </a:xfrm>
          <a:prstGeom prst="rect">
            <a:avLst/>
          </a:prstGeom>
          <a:noFill/>
        </p:spPr>
        <p:txBody>
          <a:bodyPr wrap="square" rtlCol="0" anchor="ctr"/>
          <a:lstStyle/>
          <a:p>
            <a:pPr marL="0" indent="0">
              <a:buNone/>
            </a:pPr>
            <a:r>
              <a:rPr lang="en-US" sz="900" b="1" kern="0" spc="200" dirty="0">
                <a:solidFill>
                  <a:srgbClr val="00897B"/>
                </a:solidFill>
                <a:latin typeface="Calibri" panose="020F0502020204030204" pitchFamily="34" charset="0"/>
                <a:ea typeface="Calibri" panose="020F0502020204030204" pitchFamily="34" charset="-122"/>
                <a:cs typeface="Calibri" panose="020F0502020204030204" pitchFamily="34" charset="-120"/>
              </a:rPr>
              <a:t>MEASURED PARAMETERS</a:t>
            </a:r>
            <a:endParaRPr lang="en-US" sz="900" dirty="0"/>
          </a:p>
        </p:txBody>
      </p:sp>
      <p:sp>
        <p:nvSpPr>
          <p:cNvPr id="8" name="Shape 4"/>
          <p:cNvSpPr/>
          <p:nvPr/>
        </p:nvSpPr>
        <p:spPr>
          <a:xfrm>
            <a:off x="5120640" y="1463040"/>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9" name="Shape 5"/>
          <p:cNvSpPr/>
          <p:nvPr/>
        </p:nvSpPr>
        <p:spPr>
          <a:xfrm>
            <a:off x="5166360" y="1508760"/>
            <a:ext cx="868680" cy="320040"/>
          </a:xfrm>
          <a:prstGeom prst="roundRect">
            <a:avLst>
              <a:gd name="adj" fmla="val 14286"/>
            </a:avLst>
          </a:prstGeom>
          <a:solidFill>
            <a:srgbClr val="00897B">
              <a:alpha val="70000"/>
            </a:srgbClr>
          </a:solidFill>
          <a:ln w="12700">
            <a:solidFill>
              <a:srgbClr val="00897B"/>
            </a:solidFill>
            <a:prstDash val="solid"/>
          </a:ln>
        </p:spPr>
      </p:sp>
      <p:sp>
        <p:nvSpPr>
          <p:cNvPr id="10" name="Text 6"/>
          <p:cNvSpPr/>
          <p:nvPr/>
        </p:nvSpPr>
        <p:spPr>
          <a:xfrm>
            <a:off x="5166360" y="1508760"/>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RSRP</a:t>
            </a:r>
            <a:endParaRPr lang="en-US" sz="1000" dirty="0"/>
          </a:p>
        </p:txBody>
      </p:sp>
      <p:sp>
        <p:nvSpPr>
          <p:cNvPr id="11" name="Text 7"/>
          <p:cNvSpPr/>
          <p:nvPr/>
        </p:nvSpPr>
        <p:spPr>
          <a:xfrm>
            <a:off x="6099048" y="1536192"/>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Reference Signal Received Power (dBm)</a:t>
            </a:r>
            <a:endParaRPr lang="en-US" sz="1000" dirty="0"/>
          </a:p>
        </p:txBody>
      </p:sp>
      <p:sp>
        <p:nvSpPr>
          <p:cNvPr id="12" name="Shape 8"/>
          <p:cNvSpPr/>
          <p:nvPr/>
        </p:nvSpPr>
        <p:spPr>
          <a:xfrm>
            <a:off x="5120640" y="1938528"/>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13" name="Shape 9"/>
          <p:cNvSpPr/>
          <p:nvPr/>
        </p:nvSpPr>
        <p:spPr>
          <a:xfrm>
            <a:off x="5166360" y="1984248"/>
            <a:ext cx="868680" cy="320040"/>
          </a:xfrm>
          <a:prstGeom prst="roundRect">
            <a:avLst>
              <a:gd name="adj" fmla="val 14286"/>
            </a:avLst>
          </a:prstGeom>
          <a:solidFill>
            <a:srgbClr val="00897B">
              <a:alpha val="70000"/>
            </a:srgbClr>
          </a:solidFill>
          <a:ln w="12700">
            <a:solidFill>
              <a:srgbClr val="00897B"/>
            </a:solidFill>
            <a:prstDash val="solid"/>
          </a:ln>
        </p:spPr>
      </p:sp>
      <p:sp>
        <p:nvSpPr>
          <p:cNvPr id="14" name="Text 10"/>
          <p:cNvSpPr/>
          <p:nvPr/>
        </p:nvSpPr>
        <p:spPr>
          <a:xfrm>
            <a:off x="5166360" y="1984248"/>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RSRQ</a:t>
            </a:r>
            <a:endParaRPr lang="en-US" sz="1000" dirty="0"/>
          </a:p>
        </p:txBody>
      </p:sp>
      <p:sp>
        <p:nvSpPr>
          <p:cNvPr id="15" name="Text 11"/>
          <p:cNvSpPr/>
          <p:nvPr/>
        </p:nvSpPr>
        <p:spPr>
          <a:xfrm>
            <a:off x="6099048" y="2011680"/>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Reference Signal Received Quality (dB)</a:t>
            </a:r>
            <a:endParaRPr lang="en-US" sz="1000" dirty="0"/>
          </a:p>
        </p:txBody>
      </p:sp>
      <p:sp>
        <p:nvSpPr>
          <p:cNvPr id="16" name="Shape 12"/>
          <p:cNvSpPr/>
          <p:nvPr/>
        </p:nvSpPr>
        <p:spPr>
          <a:xfrm>
            <a:off x="5120640" y="2414016"/>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17" name="Shape 13"/>
          <p:cNvSpPr/>
          <p:nvPr/>
        </p:nvSpPr>
        <p:spPr>
          <a:xfrm>
            <a:off x="5166360" y="2459736"/>
            <a:ext cx="868680" cy="320040"/>
          </a:xfrm>
          <a:prstGeom prst="roundRect">
            <a:avLst>
              <a:gd name="adj" fmla="val 14286"/>
            </a:avLst>
          </a:prstGeom>
          <a:solidFill>
            <a:srgbClr val="00897B">
              <a:alpha val="70000"/>
            </a:srgbClr>
          </a:solidFill>
          <a:ln w="12700">
            <a:solidFill>
              <a:srgbClr val="00897B"/>
            </a:solidFill>
            <a:prstDash val="solid"/>
          </a:ln>
        </p:spPr>
      </p:sp>
      <p:sp>
        <p:nvSpPr>
          <p:cNvPr id="18" name="Text 14"/>
          <p:cNvSpPr/>
          <p:nvPr/>
        </p:nvSpPr>
        <p:spPr>
          <a:xfrm>
            <a:off x="5166360" y="2459736"/>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SINR</a:t>
            </a:r>
            <a:endParaRPr lang="en-US" sz="1000" dirty="0"/>
          </a:p>
        </p:txBody>
      </p:sp>
      <p:sp>
        <p:nvSpPr>
          <p:cNvPr id="19" name="Text 15"/>
          <p:cNvSpPr/>
          <p:nvPr/>
        </p:nvSpPr>
        <p:spPr>
          <a:xfrm>
            <a:off x="6099048" y="2487168"/>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Signal-to-Interference-plus-Noise Ratio</a:t>
            </a:r>
            <a:endParaRPr lang="en-US" sz="1000" dirty="0"/>
          </a:p>
        </p:txBody>
      </p:sp>
      <p:sp>
        <p:nvSpPr>
          <p:cNvPr id="20" name="Shape 16"/>
          <p:cNvSpPr/>
          <p:nvPr/>
        </p:nvSpPr>
        <p:spPr>
          <a:xfrm>
            <a:off x="5120640" y="2889504"/>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21" name="Shape 17"/>
          <p:cNvSpPr/>
          <p:nvPr/>
        </p:nvSpPr>
        <p:spPr>
          <a:xfrm>
            <a:off x="5166360" y="2935224"/>
            <a:ext cx="868680" cy="320040"/>
          </a:xfrm>
          <a:prstGeom prst="roundRect">
            <a:avLst>
              <a:gd name="adj" fmla="val 14286"/>
            </a:avLst>
          </a:prstGeom>
          <a:solidFill>
            <a:srgbClr val="00897B">
              <a:alpha val="70000"/>
            </a:srgbClr>
          </a:solidFill>
          <a:ln w="12700">
            <a:solidFill>
              <a:srgbClr val="00897B"/>
            </a:solidFill>
            <a:prstDash val="solid"/>
          </a:ln>
        </p:spPr>
      </p:sp>
      <p:sp>
        <p:nvSpPr>
          <p:cNvPr id="22" name="Text 18"/>
          <p:cNvSpPr/>
          <p:nvPr/>
        </p:nvSpPr>
        <p:spPr>
          <a:xfrm>
            <a:off x="5166360" y="2935224"/>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RSSI</a:t>
            </a:r>
            <a:endParaRPr lang="en-US" sz="1000" dirty="0"/>
          </a:p>
        </p:txBody>
      </p:sp>
      <p:sp>
        <p:nvSpPr>
          <p:cNvPr id="23" name="Text 19"/>
          <p:cNvSpPr/>
          <p:nvPr/>
        </p:nvSpPr>
        <p:spPr>
          <a:xfrm>
            <a:off x="6099048" y="2962656"/>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Received Signal Strength Indicator (dBm)</a:t>
            </a:r>
            <a:endParaRPr lang="en-US" sz="1000" dirty="0"/>
          </a:p>
        </p:txBody>
      </p:sp>
      <p:sp>
        <p:nvSpPr>
          <p:cNvPr id="24" name="Shape 20"/>
          <p:cNvSpPr/>
          <p:nvPr/>
        </p:nvSpPr>
        <p:spPr>
          <a:xfrm>
            <a:off x="5120640" y="3364992"/>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25" name="Shape 21"/>
          <p:cNvSpPr/>
          <p:nvPr/>
        </p:nvSpPr>
        <p:spPr>
          <a:xfrm>
            <a:off x="5166360" y="3410712"/>
            <a:ext cx="868680" cy="320040"/>
          </a:xfrm>
          <a:prstGeom prst="roundRect">
            <a:avLst>
              <a:gd name="adj" fmla="val 14286"/>
            </a:avLst>
          </a:prstGeom>
          <a:solidFill>
            <a:srgbClr val="00897B">
              <a:alpha val="70000"/>
            </a:srgbClr>
          </a:solidFill>
          <a:ln w="12700">
            <a:solidFill>
              <a:srgbClr val="00897B"/>
            </a:solidFill>
            <a:prstDash val="solid"/>
          </a:ln>
        </p:spPr>
      </p:sp>
      <p:sp>
        <p:nvSpPr>
          <p:cNvPr id="26" name="Text 22"/>
          <p:cNvSpPr/>
          <p:nvPr/>
        </p:nvSpPr>
        <p:spPr>
          <a:xfrm>
            <a:off x="5166360" y="3410712"/>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Cell ID</a:t>
            </a:r>
            <a:endParaRPr lang="en-US" sz="1000" dirty="0"/>
          </a:p>
        </p:txBody>
      </p:sp>
      <p:sp>
        <p:nvSpPr>
          <p:cNvPr id="27" name="Text 23"/>
          <p:cNvSpPr/>
          <p:nvPr/>
        </p:nvSpPr>
        <p:spPr>
          <a:xfrm>
            <a:off x="6099048" y="3438144"/>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Serving cell identifier (hex format)</a:t>
            </a:r>
            <a:endParaRPr lang="en-US" sz="1000" dirty="0"/>
          </a:p>
        </p:txBody>
      </p:sp>
      <p:sp>
        <p:nvSpPr>
          <p:cNvPr id="28" name="Shape 24"/>
          <p:cNvSpPr/>
          <p:nvPr/>
        </p:nvSpPr>
        <p:spPr>
          <a:xfrm>
            <a:off x="5120640" y="3840480"/>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29" name="Shape 25"/>
          <p:cNvSpPr/>
          <p:nvPr/>
        </p:nvSpPr>
        <p:spPr>
          <a:xfrm>
            <a:off x="5166360" y="3886200"/>
            <a:ext cx="868680" cy="320040"/>
          </a:xfrm>
          <a:prstGeom prst="roundRect">
            <a:avLst>
              <a:gd name="adj" fmla="val 14286"/>
            </a:avLst>
          </a:prstGeom>
          <a:solidFill>
            <a:srgbClr val="00897B">
              <a:alpha val="70000"/>
            </a:srgbClr>
          </a:solidFill>
          <a:ln w="12700">
            <a:solidFill>
              <a:srgbClr val="00897B"/>
            </a:solidFill>
            <a:prstDash val="solid"/>
          </a:ln>
        </p:spPr>
      </p:sp>
      <p:sp>
        <p:nvSpPr>
          <p:cNvPr id="30" name="Text 26"/>
          <p:cNvSpPr/>
          <p:nvPr/>
        </p:nvSpPr>
        <p:spPr>
          <a:xfrm>
            <a:off x="5166360" y="3886200"/>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GPS</a:t>
            </a:r>
            <a:endParaRPr lang="en-US" sz="1000" dirty="0"/>
          </a:p>
        </p:txBody>
      </p:sp>
      <p:sp>
        <p:nvSpPr>
          <p:cNvPr id="31" name="Text 27"/>
          <p:cNvSpPr/>
          <p:nvPr/>
        </p:nvSpPr>
        <p:spPr>
          <a:xfrm>
            <a:off x="6099048" y="3913632"/>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Latitude/longitude coordinates</a:t>
            </a:r>
            <a:endParaRPr lang="en-US" sz="1000" dirty="0"/>
          </a:p>
        </p:txBody>
      </p:sp>
      <p:sp>
        <p:nvSpPr>
          <p:cNvPr id="32" name="Shape 28"/>
          <p:cNvSpPr/>
          <p:nvPr/>
        </p:nvSpPr>
        <p:spPr>
          <a:xfrm>
            <a:off x="5120640" y="4315968"/>
            <a:ext cx="3749040" cy="411480"/>
          </a:xfrm>
          <a:prstGeom prst="roundRect">
            <a:avLst>
              <a:gd name="adj" fmla="val 26667"/>
            </a:avLst>
          </a:prstGeom>
          <a:solidFill>
            <a:srgbClr val="132040"/>
          </a:solidFill>
          <a:effectLst>
            <a:outerShdw blurRad="127000" dist="38100" dir="2700000" algn="bl" rotWithShape="0">
              <a:srgbClr val="000000">
                <a:alpha val="25000"/>
              </a:srgbClr>
            </a:outerShdw>
          </a:effectLst>
        </p:spPr>
      </p:sp>
      <p:sp>
        <p:nvSpPr>
          <p:cNvPr id="33" name="Shape 29"/>
          <p:cNvSpPr/>
          <p:nvPr/>
        </p:nvSpPr>
        <p:spPr>
          <a:xfrm>
            <a:off x="5166360" y="4361688"/>
            <a:ext cx="868680" cy="320040"/>
          </a:xfrm>
          <a:prstGeom prst="roundRect">
            <a:avLst>
              <a:gd name="adj" fmla="val 14286"/>
            </a:avLst>
          </a:prstGeom>
          <a:solidFill>
            <a:srgbClr val="00897B">
              <a:alpha val="70000"/>
            </a:srgbClr>
          </a:solidFill>
          <a:ln w="12700">
            <a:solidFill>
              <a:srgbClr val="00897B"/>
            </a:solidFill>
            <a:prstDash val="solid"/>
          </a:ln>
        </p:spPr>
      </p:sp>
      <p:sp>
        <p:nvSpPr>
          <p:cNvPr id="34" name="Text 30"/>
          <p:cNvSpPr/>
          <p:nvPr/>
        </p:nvSpPr>
        <p:spPr>
          <a:xfrm>
            <a:off x="5166360" y="4361688"/>
            <a:ext cx="868680" cy="32004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Timestamp</a:t>
            </a:r>
            <a:endParaRPr lang="en-US" sz="1000" dirty="0"/>
          </a:p>
        </p:txBody>
      </p:sp>
      <p:sp>
        <p:nvSpPr>
          <p:cNvPr id="35" name="Text 31"/>
          <p:cNvSpPr/>
          <p:nvPr/>
        </p:nvSpPr>
        <p:spPr>
          <a:xfrm>
            <a:off x="6099048" y="4389120"/>
            <a:ext cx="2651760" cy="274320"/>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Date &amp; time of measurement</a:t>
            </a:r>
            <a:endParaRPr lang="en-US" sz="1000" dirty="0"/>
          </a:p>
        </p:txBody>
      </p:sp>
      <p:sp>
        <p:nvSpPr>
          <p:cNvPr id="36" name="Text 32"/>
          <p:cNvSpPr/>
          <p:nvPr/>
        </p:nvSpPr>
        <p:spPr>
          <a:xfrm>
            <a:off x="5120640" y="4809744"/>
            <a:ext cx="3749040" cy="256032"/>
          </a:xfrm>
          <a:prstGeom prst="rect">
            <a:avLst/>
          </a:prstGeom>
          <a:noFill/>
        </p:spPr>
        <p:txBody>
          <a:bodyPr wrap="square" rtlCol="0" anchor="ctr"/>
          <a:lstStyle/>
          <a:p>
            <a:pPr marL="0" indent="0">
              <a:buNone/>
            </a:pPr>
            <a:r>
              <a:rPr lang="en-US" sz="950" i="1" dirty="0">
                <a:solidFill>
                  <a:srgbClr val="00897B"/>
                </a:solidFill>
                <a:latin typeface="Calibri" panose="020F0502020204030204" pitchFamily="34" charset="0"/>
                <a:ea typeface="Calibri" panose="020F0502020204030204" pitchFamily="34" charset="-122"/>
                <a:cs typeface="Calibri" panose="020F0502020204030204" pitchFamily="34" charset="-120"/>
              </a:rPr>
              <a:t>All measurements updated in real-time via Flutter dynamic widgets</a:t>
            </a:r>
            <a:endParaRPr lang="en-US" sz="950" dirty="0"/>
          </a:p>
        </p:txBody>
      </p:sp>
      <p:pic>
        <p:nvPicPr>
          <p:cNvPr id="37" name="Picture 36" descr="Screenshot_20260608-220033"/>
          <p:cNvPicPr>
            <a:picLocks noChangeAspect="1"/>
          </p:cNvPicPr>
          <p:nvPr/>
        </p:nvPicPr>
        <p:blipFill>
          <a:blip r:embed="rId1"/>
          <a:stretch>
            <a:fillRect/>
          </a:stretch>
        </p:blipFill>
        <p:spPr>
          <a:xfrm>
            <a:off x="2830195" y="1170305"/>
            <a:ext cx="2028190" cy="3652520"/>
          </a:xfrm>
          <a:prstGeom prst="rect">
            <a:avLst/>
          </a:prstGeom>
        </p:spPr>
      </p:pic>
      <p:pic>
        <p:nvPicPr>
          <p:cNvPr id="38" name="Picture 37" descr="Screenshot_20260608-220000"/>
          <p:cNvPicPr>
            <a:picLocks noChangeAspect="1"/>
          </p:cNvPicPr>
          <p:nvPr/>
        </p:nvPicPr>
        <p:blipFill>
          <a:blip r:embed="rId2"/>
          <a:stretch>
            <a:fillRect/>
          </a:stretch>
        </p:blipFill>
        <p:spPr>
          <a:xfrm>
            <a:off x="374015" y="1170305"/>
            <a:ext cx="2147570" cy="36569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COVERAGE MONITORING</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0A1628"/>
                </a:solidFill>
                <a:latin typeface="Calibri" panose="020F0502020204030204" pitchFamily="34" charset="0"/>
                <a:ea typeface="Calibri" panose="020F0502020204030204" pitchFamily="34" charset="-122"/>
                <a:cs typeface="Calibri" panose="020F0502020204030204" pitchFamily="34" charset="-120"/>
              </a:rPr>
              <a:t>Coverage Monitoring Interface</a:t>
            </a:r>
            <a:endParaRPr lang="en-US" sz="3000" dirty="0"/>
          </a:p>
        </p:txBody>
      </p:sp>
      <p:sp>
        <p:nvSpPr>
          <p:cNvPr id="6" name="Text 3"/>
          <p:cNvSpPr/>
          <p:nvPr/>
        </p:nvSpPr>
        <p:spPr>
          <a:xfrm>
            <a:off x="274320" y="4846320"/>
            <a:ext cx="2926080" cy="201168"/>
          </a:xfrm>
          <a:prstGeom prst="rect">
            <a:avLst/>
          </a:prstGeom>
          <a:noFill/>
        </p:spPr>
        <p:txBody>
          <a:bodyPr wrap="square" rtlCol="0" anchor="ctr"/>
          <a:lstStyle/>
          <a:p>
            <a:pPr marL="0" indent="0" algn="ctr">
              <a:buNone/>
            </a:pPr>
            <a:r>
              <a:rPr lang="en-US" sz="850" i="1" dirty="0">
                <a:solidFill>
                  <a:srgbClr val="78909C"/>
                </a:solidFill>
                <a:latin typeface="Calibri" panose="020F0502020204030204" pitchFamily="34" charset="0"/>
                <a:ea typeface="Calibri" panose="020F0502020204030204" pitchFamily="34" charset="-122"/>
                <a:cs typeface="Calibri" panose="020F0502020204030204" pitchFamily="34" charset="-120"/>
              </a:rPr>
              <a:t>Fig. 4: Coverage Map with Signal Quality Overlay</a:t>
            </a:r>
            <a:endParaRPr lang="en-US" sz="850" dirty="0"/>
          </a:p>
        </p:txBody>
      </p:sp>
      <p:sp>
        <p:nvSpPr>
          <p:cNvPr id="7" name="Text 4"/>
          <p:cNvSpPr/>
          <p:nvPr/>
        </p:nvSpPr>
        <p:spPr>
          <a:xfrm>
            <a:off x="3383280" y="1143000"/>
            <a:ext cx="5486400" cy="256032"/>
          </a:xfrm>
          <a:prstGeom prst="rect">
            <a:avLst/>
          </a:prstGeom>
          <a:noFill/>
        </p:spPr>
        <p:txBody>
          <a:bodyPr wrap="square" rtlCol="0" anchor="ctr"/>
          <a:lstStyle/>
          <a:p>
            <a:pPr marL="0" indent="0">
              <a:buNone/>
            </a:pPr>
            <a:r>
              <a:rPr lang="en-US" sz="900" b="1" kern="0" spc="200" dirty="0">
                <a:solidFill>
                  <a:srgbClr val="546E7A"/>
                </a:solidFill>
                <a:latin typeface="Calibri" panose="020F0502020204030204" pitchFamily="34" charset="0"/>
                <a:ea typeface="Calibri" panose="020F0502020204030204" pitchFamily="34" charset="-122"/>
                <a:cs typeface="Calibri" panose="020F0502020204030204" pitchFamily="34" charset="-120"/>
              </a:rPr>
              <a:t>WHAT THE MAP SHOWS</a:t>
            </a:r>
            <a:endParaRPr lang="en-US" sz="900" dirty="0"/>
          </a:p>
        </p:txBody>
      </p:sp>
      <p:sp>
        <p:nvSpPr>
          <p:cNvPr id="8" name="Shape 5"/>
          <p:cNvSpPr/>
          <p:nvPr/>
        </p:nvSpPr>
        <p:spPr>
          <a:xfrm>
            <a:off x="3291840" y="1508760"/>
            <a:ext cx="5577840" cy="822960"/>
          </a:xfrm>
          <a:prstGeom prst="roundRect">
            <a:avLst>
              <a:gd name="adj" fmla="val 13333"/>
            </a:avLst>
          </a:prstGeom>
          <a:solidFill>
            <a:srgbClr val="FFFFFF"/>
          </a:solidFill>
          <a:effectLst>
            <a:outerShdw blurRad="127000" dist="38100" dir="2700000" algn="bl" rotWithShape="0">
              <a:srgbClr val="000000">
                <a:alpha val="25000"/>
              </a:srgbClr>
            </a:outerShdw>
          </a:effectLst>
        </p:spPr>
      </p:sp>
      <p:sp>
        <p:nvSpPr>
          <p:cNvPr id="9" name="Shape 6"/>
          <p:cNvSpPr/>
          <p:nvPr/>
        </p:nvSpPr>
        <p:spPr>
          <a:xfrm>
            <a:off x="3401568" y="1691640"/>
            <a:ext cx="411480" cy="411480"/>
          </a:xfrm>
          <a:prstGeom prst="ellipse">
            <a:avLst/>
          </a:prstGeom>
          <a:solidFill>
            <a:srgbClr val="2E7D32"/>
          </a:solidFill>
          <a:ln w="12700">
            <a:solidFill>
              <a:srgbClr val="2E7D32"/>
            </a:solidFill>
            <a:prstDash val="solid"/>
          </a:ln>
        </p:spPr>
      </p:sp>
      <p:sp>
        <p:nvSpPr>
          <p:cNvPr id="10" name="Text 7"/>
          <p:cNvSpPr/>
          <p:nvPr/>
        </p:nvSpPr>
        <p:spPr>
          <a:xfrm>
            <a:off x="3886200" y="1581912"/>
            <a:ext cx="4754880" cy="274320"/>
          </a:xfrm>
          <a:prstGeom prst="rect">
            <a:avLst/>
          </a:prstGeom>
          <a:noFill/>
        </p:spPr>
        <p:txBody>
          <a:bodyPr wrap="square"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Excellent Coverage</a:t>
            </a:r>
            <a:endParaRPr lang="en-US" sz="1300" dirty="0"/>
          </a:p>
        </p:txBody>
      </p:sp>
      <p:sp>
        <p:nvSpPr>
          <p:cNvPr id="11" name="Text 8"/>
          <p:cNvSpPr/>
          <p:nvPr/>
        </p:nvSpPr>
        <p:spPr>
          <a:xfrm>
            <a:off x="3886200" y="1856232"/>
            <a:ext cx="4754880" cy="365760"/>
          </a:xfrm>
          <a:prstGeom prst="rect">
            <a:avLst/>
          </a:prstGeom>
          <a:noFill/>
        </p:spPr>
        <p:txBody>
          <a:bodyPr wrap="square" rtlCol="0" anchor="ctr"/>
          <a:lstStyle/>
          <a:p>
            <a:pPr marL="0" indent="0">
              <a:buNone/>
            </a:pPr>
            <a:r>
              <a:rPr lang="en-US" sz="1100" dirty="0">
                <a:solidFill>
                  <a:srgbClr val="546E7A"/>
                </a:solidFill>
                <a:latin typeface="Calibri" panose="020F0502020204030204" pitchFamily="34" charset="0"/>
                <a:ea typeface="Calibri" panose="020F0502020204030204" pitchFamily="34" charset="-122"/>
                <a:cs typeface="Calibri" panose="020F0502020204030204" pitchFamily="34" charset="-120"/>
              </a:rPr>
              <a:t>Strong signal areas shown in green — optimal network performance</a:t>
            </a:r>
            <a:endParaRPr lang="en-US" sz="1100" dirty="0"/>
          </a:p>
        </p:txBody>
      </p:sp>
      <p:sp>
        <p:nvSpPr>
          <p:cNvPr id="12" name="Shape 9"/>
          <p:cNvSpPr/>
          <p:nvPr/>
        </p:nvSpPr>
        <p:spPr>
          <a:xfrm>
            <a:off x="3291840" y="2514600"/>
            <a:ext cx="5577840" cy="822960"/>
          </a:xfrm>
          <a:prstGeom prst="roundRect">
            <a:avLst>
              <a:gd name="adj" fmla="val 13333"/>
            </a:avLst>
          </a:prstGeom>
          <a:solidFill>
            <a:srgbClr val="FFFFFF"/>
          </a:solidFill>
          <a:effectLst>
            <a:outerShdw blurRad="127000" dist="38100" dir="2700000" algn="bl" rotWithShape="0">
              <a:srgbClr val="000000">
                <a:alpha val="25000"/>
              </a:srgbClr>
            </a:outerShdw>
          </a:effectLst>
        </p:spPr>
      </p:sp>
      <p:sp>
        <p:nvSpPr>
          <p:cNvPr id="13" name="Shape 10"/>
          <p:cNvSpPr/>
          <p:nvPr/>
        </p:nvSpPr>
        <p:spPr>
          <a:xfrm>
            <a:off x="3401568" y="2697480"/>
            <a:ext cx="411480" cy="411480"/>
          </a:xfrm>
          <a:prstGeom prst="ellipse">
            <a:avLst/>
          </a:prstGeom>
          <a:solidFill>
            <a:srgbClr val="F57F17"/>
          </a:solidFill>
          <a:ln w="12700">
            <a:solidFill>
              <a:srgbClr val="F57F17"/>
            </a:solidFill>
            <a:prstDash val="solid"/>
          </a:ln>
        </p:spPr>
      </p:sp>
      <p:sp>
        <p:nvSpPr>
          <p:cNvPr id="14" name="Text 11"/>
          <p:cNvSpPr/>
          <p:nvPr/>
        </p:nvSpPr>
        <p:spPr>
          <a:xfrm>
            <a:off x="3886200" y="2587752"/>
            <a:ext cx="4754880" cy="274320"/>
          </a:xfrm>
          <a:prstGeom prst="rect">
            <a:avLst/>
          </a:prstGeom>
          <a:noFill/>
        </p:spPr>
        <p:txBody>
          <a:bodyPr wrap="square"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Fair Coverage</a:t>
            </a:r>
            <a:endParaRPr lang="en-US" sz="1300" dirty="0"/>
          </a:p>
        </p:txBody>
      </p:sp>
      <p:sp>
        <p:nvSpPr>
          <p:cNvPr id="15" name="Text 12"/>
          <p:cNvSpPr/>
          <p:nvPr/>
        </p:nvSpPr>
        <p:spPr>
          <a:xfrm>
            <a:off x="3886200" y="2862072"/>
            <a:ext cx="4754880" cy="365760"/>
          </a:xfrm>
          <a:prstGeom prst="rect">
            <a:avLst/>
          </a:prstGeom>
          <a:noFill/>
        </p:spPr>
        <p:txBody>
          <a:bodyPr wrap="square" rtlCol="0" anchor="ctr"/>
          <a:lstStyle/>
          <a:p>
            <a:pPr marL="0" indent="0">
              <a:buNone/>
            </a:pPr>
            <a:r>
              <a:rPr lang="en-US" sz="1100" dirty="0">
                <a:solidFill>
                  <a:srgbClr val="546E7A"/>
                </a:solidFill>
                <a:latin typeface="Calibri" panose="020F0502020204030204" pitchFamily="34" charset="0"/>
                <a:ea typeface="Calibri" panose="020F0502020204030204" pitchFamily="34" charset="-122"/>
                <a:cs typeface="Calibri" panose="020F0502020204030204" pitchFamily="34" charset="-120"/>
              </a:rPr>
              <a:t>Acceptable signal shown in yellow-orange — some degradation</a:t>
            </a:r>
            <a:endParaRPr lang="en-US" sz="1100" dirty="0"/>
          </a:p>
        </p:txBody>
      </p:sp>
      <p:sp>
        <p:nvSpPr>
          <p:cNvPr id="16" name="Shape 13"/>
          <p:cNvSpPr/>
          <p:nvPr/>
        </p:nvSpPr>
        <p:spPr>
          <a:xfrm>
            <a:off x="3291840" y="3520440"/>
            <a:ext cx="5577840" cy="822960"/>
          </a:xfrm>
          <a:prstGeom prst="roundRect">
            <a:avLst>
              <a:gd name="adj" fmla="val 13333"/>
            </a:avLst>
          </a:prstGeom>
          <a:solidFill>
            <a:srgbClr val="FFFFFF"/>
          </a:solidFill>
          <a:effectLst>
            <a:outerShdw blurRad="127000" dist="38100" dir="2700000" algn="bl" rotWithShape="0">
              <a:srgbClr val="000000">
                <a:alpha val="25000"/>
              </a:srgbClr>
            </a:outerShdw>
          </a:effectLst>
        </p:spPr>
      </p:sp>
      <p:sp>
        <p:nvSpPr>
          <p:cNvPr id="17" name="Shape 14"/>
          <p:cNvSpPr/>
          <p:nvPr/>
        </p:nvSpPr>
        <p:spPr>
          <a:xfrm>
            <a:off x="3401568" y="3703320"/>
            <a:ext cx="411480" cy="411480"/>
          </a:xfrm>
          <a:prstGeom prst="ellipse">
            <a:avLst/>
          </a:prstGeom>
          <a:solidFill>
            <a:srgbClr val="C62828"/>
          </a:solidFill>
          <a:ln w="12700">
            <a:solidFill>
              <a:srgbClr val="C62828"/>
            </a:solidFill>
            <a:prstDash val="solid"/>
          </a:ln>
        </p:spPr>
      </p:sp>
      <p:sp>
        <p:nvSpPr>
          <p:cNvPr id="18" name="Text 15"/>
          <p:cNvSpPr/>
          <p:nvPr/>
        </p:nvSpPr>
        <p:spPr>
          <a:xfrm>
            <a:off x="3886200" y="3593592"/>
            <a:ext cx="4754880" cy="274320"/>
          </a:xfrm>
          <a:prstGeom prst="rect">
            <a:avLst/>
          </a:prstGeom>
          <a:noFill/>
        </p:spPr>
        <p:txBody>
          <a:bodyPr wrap="square"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Poor Coverage / Holes</a:t>
            </a:r>
            <a:endParaRPr lang="en-US" sz="1300" dirty="0"/>
          </a:p>
        </p:txBody>
      </p:sp>
      <p:sp>
        <p:nvSpPr>
          <p:cNvPr id="19" name="Text 16"/>
          <p:cNvSpPr/>
          <p:nvPr/>
        </p:nvSpPr>
        <p:spPr>
          <a:xfrm>
            <a:off x="3886200" y="3867912"/>
            <a:ext cx="4754880" cy="365760"/>
          </a:xfrm>
          <a:prstGeom prst="rect">
            <a:avLst/>
          </a:prstGeom>
          <a:noFill/>
        </p:spPr>
        <p:txBody>
          <a:bodyPr wrap="square" rtlCol="0" anchor="ctr"/>
          <a:lstStyle/>
          <a:p>
            <a:pPr marL="0" indent="0">
              <a:buNone/>
            </a:pPr>
            <a:r>
              <a:rPr lang="en-US" sz="1100" dirty="0">
                <a:solidFill>
                  <a:srgbClr val="546E7A"/>
                </a:solidFill>
                <a:latin typeface="Calibri" panose="020F0502020204030204" pitchFamily="34" charset="0"/>
                <a:ea typeface="Calibri" panose="020F0502020204030204" pitchFamily="34" charset="-122"/>
                <a:cs typeface="Calibri" panose="020F0502020204030204" pitchFamily="34" charset="-120"/>
              </a:rPr>
              <a:t>Weak or no signal shown in red — requires network improvement</a:t>
            </a:r>
            <a:endParaRPr lang="en-US" sz="1100" dirty="0"/>
          </a:p>
        </p:txBody>
      </p:sp>
      <p:sp>
        <p:nvSpPr>
          <p:cNvPr id="20" name="Text 17"/>
          <p:cNvSpPr/>
          <p:nvPr/>
        </p:nvSpPr>
        <p:spPr>
          <a:xfrm>
            <a:off x="3291840" y="4572000"/>
            <a:ext cx="1463040" cy="274320"/>
          </a:xfrm>
          <a:prstGeom prst="rect">
            <a:avLst/>
          </a:prstGeom>
          <a:noFill/>
        </p:spPr>
        <p:txBody>
          <a:bodyPr wrap="square" rtlCol="0" anchor="ctr"/>
          <a:lstStyle/>
          <a:p>
            <a:pPr marL="0" indent="0">
              <a:buNone/>
            </a:pPr>
            <a:r>
              <a:rPr lang="en-US" sz="900" b="1" dirty="0">
                <a:solidFill>
                  <a:srgbClr val="546E7A"/>
                </a:solidFill>
                <a:latin typeface="Calibri" panose="020F0502020204030204" pitchFamily="34" charset="0"/>
                <a:ea typeface="Calibri" panose="020F0502020204030204" pitchFamily="34" charset="-122"/>
                <a:cs typeface="Calibri" panose="020F0502020204030204" pitchFamily="34" charset="-120"/>
              </a:rPr>
              <a:t>NETWORK FILTER:</a:t>
            </a:r>
            <a:endParaRPr lang="en-US" sz="900" dirty="0"/>
          </a:p>
        </p:txBody>
      </p:sp>
      <p:sp>
        <p:nvSpPr>
          <p:cNvPr id="21" name="Shape 18"/>
          <p:cNvSpPr/>
          <p:nvPr/>
        </p:nvSpPr>
        <p:spPr>
          <a:xfrm>
            <a:off x="4572000" y="4572000"/>
            <a:ext cx="685800" cy="274320"/>
          </a:xfrm>
          <a:prstGeom prst="roundRect">
            <a:avLst>
              <a:gd name="adj" fmla="val 33333"/>
            </a:avLst>
          </a:prstGeom>
          <a:solidFill>
            <a:srgbClr val="00897B"/>
          </a:solidFill>
          <a:ln w="12700">
            <a:solidFill>
              <a:srgbClr val="00897B"/>
            </a:solidFill>
            <a:prstDash val="solid"/>
          </a:ln>
        </p:spPr>
      </p:sp>
      <p:sp>
        <p:nvSpPr>
          <p:cNvPr id="22" name="Text 19"/>
          <p:cNvSpPr/>
          <p:nvPr/>
        </p:nvSpPr>
        <p:spPr>
          <a:xfrm>
            <a:off x="4572000" y="4572000"/>
            <a:ext cx="68580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5G</a:t>
            </a:r>
            <a:endParaRPr lang="en-US" sz="1000" dirty="0"/>
          </a:p>
        </p:txBody>
      </p:sp>
      <p:sp>
        <p:nvSpPr>
          <p:cNvPr id="23" name="Shape 20"/>
          <p:cNvSpPr/>
          <p:nvPr/>
        </p:nvSpPr>
        <p:spPr>
          <a:xfrm>
            <a:off x="5349240" y="4572000"/>
            <a:ext cx="685800" cy="274320"/>
          </a:xfrm>
          <a:prstGeom prst="roundRect">
            <a:avLst>
              <a:gd name="adj" fmla="val 33333"/>
            </a:avLst>
          </a:prstGeom>
          <a:solidFill>
            <a:srgbClr val="0A1628"/>
          </a:solidFill>
          <a:ln w="12700">
            <a:solidFill>
              <a:srgbClr val="0A1628"/>
            </a:solidFill>
            <a:prstDash val="solid"/>
          </a:ln>
        </p:spPr>
      </p:sp>
      <p:sp>
        <p:nvSpPr>
          <p:cNvPr id="24" name="Text 21"/>
          <p:cNvSpPr/>
          <p:nvPr/>
        </p:nvSpPr>
        <p:spPr>
          <a:xfrm>
            <a:off x="5349240" y="4572000"/>
            <a:ext cx="68580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4G</a:t>
            </a:r>
            <a:endParaRPr lang="en-US" sz="1000" dirty="0"/>
          </a:p>
        </p:txBody>
      </p:sp>
      <p:sp>
        <p:nvSpPr>
          <p:cNvPr id="25" name="Shape 22"/>
          <p:cNvSpPr/>
          <p:nvPr/>
        </p:nvSpPr>
        <p:spPr>
          <a:xfrm>
            <a:off x="6126480" y="4572000"/>
            <a:ext cx="685800" cy="274320"/>
          </a:xfrm>
          <a:prstGeom prst="roundRect">
            <a:avLst>
              <a:gd name="adj" fmla="val 33333"/>
            </a:avLst>
          </a:prstGeom>
          <a:solidFill>
            <a:srgbClr val="0A1628"/>
          </a:solidFill>
          <a:ln w="12700">
            <a:solidFill>
              <a:srgbClr val="0A1628"/>
            </a:solidFill>
            <a:prstDash val="solid"/>
          </a:ln>
        </p:spPr>
      </p:sp>
      <p:sp>
        <p:nvSpPr>
          <p:cNvPr id="26" name="Text 23"/>
          <p:cNvSpPr/>
          <p:nvPr/>
        </p:nvSpPr>
        <p:spPr>
          <a:xfrm>
            <a:off x="6126480" y="4572000"/>
            <a:ext cx="68580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3G</a:t>
            </a:r>
            <a:endParaRPr lang="en-US" sz="1000" dirty="0"/>
          </a:p>
        </p:txBody>
      </p:sp>
      <p:sp>
        <p:nvSpPr>
          <p:cNvPr id="27" name="Shape 24"/>
          <p:cNvSpPr/>
          <p:nvPr/>
        </p:nvSpPr>
        <p:spPr>
          <a:xfrm>
            <a:off x="6903720" y="4572000"/>
            <a:ext cx="685800" cy="274320"/>
          </a:xfrm>
          <a:prstGeom prst="roundRect">
            <a:avLst>
              <a:gd name="adj" fmla="val 33333"/>
            </a:avLst>
          </a:prstGeom>
          <a:solidFill>
            <a:srgbClr val="0A1628"/>
          </a:solidFill>
          <a:ln w="12700">
            <a:solidFill>
              <a:srgbClr val="0A1628"/>
            </a:solidFill>
            <a:prstDash val="solid"/>
          </a:ln>
        </p:spPr>
      </p:sp>
      <p:sp>
        <p:nvSpPr>
          <p:cNvPr id="28" name="Text 25"/>
          <p:cNvSpPr/>
          <p:nvPr/>
        </p:nvSpPr>
        <p:spPr>
          <a:xfrm>
            <a:off x="6903720" y="4572000"/>
            <a:ext cx="68580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2G</a:t>
            </a:r>
            <a:endParaRPr lang="en-US" sz="1000" dirty="0"/>
          </a:p>
        </p:txBody>
      </p:sp>
      <p:pic>
        <p:nvPicPr>
          <p:cNvPr id="29" name="Picture 28" descr="Screenshot_20260608-220309"/>
          <p:cNvPicPr>
            <a:picLocks noChangeAspect="1"/>
          </p:cNvPicPr>
          <p:nvPr/>
        </p:nvPicPr>
        <p:blipFill>
          <a:blip r:embed="rId1"/>
          <a:stretch>
            <a:fillRect/>
          </a:stretch>
        </p:blipFill>
        <p:spPr>
          <a:xfrm>
            <a:off x="526415" y="1170305"/>
            <a:ext cx="2454910" cy="35979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3" name="Text 1"/>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FRONTEND IMPLEMENTATION</a:t>
            </a:r>
            <a:endParaRPr lang="en-US" sz="900" dirty="0"/>
          </a:p>
        </p:txBody>
      </p:sp>
      <p:sp>
        <p:nvSpPr>
          <p:cNvPr id="4" name="Text 2"/>
          <p:cNvSpPr/>
          <p:nvPr/>
        </p:nvSpPr>
        <p:spPr>
          <a:xfrm>
            <a:off x="365760" y="594360"/>
            <a:ext cx="8229600" cy="50292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Flutter &amp; Dart Implementation</a:t>
            </a:r>
            <a:endParaRPr lang="en-US" sz="3000" dirty="0"/>
          </a:p>
        </p:txBody>
      </p:sp>
      <p:sp>
        <p:nvSpPr>
          <p:cNvPr id="7" name="Text 3"/>
          <p:cNvSpPr/>
          <p:nvPr/>
        </p:nvSpPr>
        <p:spPr>
          <a:xfrm>
            <a:off x="4663440" y="1143000"/>
            <a:ext cx="4206240" cy="256032"/>
          </a:xfrm>
          <a:prstGeom prst="rect">
            <a:avLst/>
          </a:prstGeom>
          <a:noFill/>
        </p:spPr>
        <p:txBody>
          <a:bodyPr wrap="square" rtlCol="0" anchor="ctr"/>
          <a:lstStyle/>
          <a:p>
            <a:pPr marL="0" indent="0">
              <a:buNone/>
            </a:pPr>
            <a:r>
              <a:rPr lang="en-US" sz="900" b="1" kern="0" spc="200" dirty="0">
                <a:solidFill>
                  <a:srgbClr val="00897B"/>
                </a:solidFill>
                <a:latin typeface="Calibri" panose="020F0502020204030204" pitchFamily="34" charset="0"/>
                <a:ea typeface="Calibri" panose="020F0502020204030204" pitchFamily="34" charset="-122"/>
                <a:cs typeface="Calibri" panose="020F0502020204030204" pitchFamily="34" charset="-120"/>
              </a:rPr>
              <a:t>WHY FLUTTER WAS SELECTED</a:t>
            </a:r>
            <a:endParaRPr lang="en-US" sz="900" dirty="0"/>
          </a:p>
        </p:txBody>
      </p:sp>
      <p:sp>
        <p:nvSpPr>
          <p:cNvPr id="8" name="Shape 4"/>
          <p:cNvSpPr/>
          <p:nvPr/>
        </p:nvSpPr>
        <p:spPr>
          <a:xfrm>
            <a:off x="4572000" y="1463040"/>
            <a:ext cx="4297680" cy="713232"/>
          </a:xfrm>
          <a:prstGeom prst="roundRect">
            <a:avLst>
              <a:gd name="adj" fmla="val 15385"/>
            </a:avLst>
          </a:prstGeom>
          <a:solidFill>
            <a:srgbClr val="132040"/>
          </a:solidFill>
          <a:effectLst>
            <a:outerShdw blurRad="127000" dist="38100" dir="2700000" algn="bl" rotWithShape="0">
              <a:srgbClr val="000000">
                <a:alpha val="25000"/>
              </a:srgbClr>
            </a:outerShdw>
          </a:effectLst>
        </p:spPr>
      </p:sp>
      <p:sp>
        <p:nvSpPr>
          <p:cNvPr id="9" name="Text 5"/>
          <p:cNvSpPr/>
          <p:nvPr/>
        </p:nvSpPr>
        <p:spPr>
          <a:xfrm>
            <a:off x="4645152" y="1463040"/>
            <a:ext cx="502920" cy="713232"/>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0" name="Text 6"/>
          <p:cNvSpPr/>
          <p:nvPr/>
        </p:nvSpPr>
        <p:spPr>
          <a:xfrm>
            <a:off x="5193792" y="1517904"/>
            <a:ext cx="3566160" cy="237744"/>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Cross-Platform</a:t>
            </a:r>
            <a:endParaRPr lang="en-US" sz="1200" dirty="0"/>
          </a:p>
        </p:txBody>
      </p:sp>
      <p:sp>
        <p:nvSpPr>
          <p:cNvPr id="11" name="Text 7"/>
          <p:cNvSpPr/>
          <p:nvPr/>
        </p:nvSpPr>
        <p:spPr>
          <a:xfrm>
            <a:off x="5193792" y="1764792"/>
            <a:ext cx="3566160" cy="347472"/>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Single codebase for Android &amp; iOS — reduces development time and maintenance costs</a:t>
            </a:r>
            <a:endParaRPr lang="en-US" sz="1000" dirty="0"/>
          </a:p>
        </p:txBody>
      </p:sp>
      <p:sp>
        <p:nvSpPr>
          <p:cNvPr id="12" name="Shape 8"/>
          <p:cNvSpPr/>
          <p:nvPr/>
        </p:nvSpPr>
        <p:spPr>
          <a:xfrm>
            <a:off x="4572000" y="2304288"/>
            <a:ext cx="4297680" cy="713232"/>
          </a:xfrm>
          <a:prstGeom prst="roundRect">
            <a:avLst>
              <a:gd name="adj" fmla="val 15385"/>
            </a:avLst>
          </a:prstGeom>
          <a:solidFill>
            <a:srgbClr val="132040"/>
          </a:solidFill>
          <a:effectLst>
            <a:outerShdw blurRad="127000" dist="38100" dir="2700000" algn="bl" rotWithShape="0">
              <a:srgbClr val="000000">
                <a:alpha val="25000"/>
              </a:srgbClr>
            </a:outerShdw>
          </a:effectLst>
        </p:spPr>
      </p:sp>
      <p:sp>
        <p:nvSpPr>
          <p:cNvPr id="13" name="Text 9"/>
          <p:cNvSpPr/>
          <p:nvPr/>
        </p:nvSpPr>
        <p:spPr>
          <a:xfrm>
            <a:off x="4645152" y="2304288"/>
            <a:ext cx="502920" cy="713232"/>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4" name="Text 10"/>
          <p:cNvSpPr/>
          <p:nvPr/>
        </p:nvSpPr>
        <p:spPr>
          <a:xfrm>
            <a:off x="5193792" y="2359152"/>
            <a:ext cx="3566160" cy="237744"/>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 Performance</a:t>
            </a:r>
            <a:endParaRPr lang="en-US" sz="1200" dirty="0"/>
          </a:p>
        </p:txBody>
      </p:sp>
      <p:sp>
        <p:nvSpPr>
          <p:cNvPr id="15" name="Text 11"/>
          <p:cNvSpPr/>
          <p:nvPr/>
        </p:nvSpPr>
        <p:spPr>
          <a:xfrm>
            <a:off x="5193792" y="2606040"/>
            <a:ext cx="3566160" cy="347472"/>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Compiles to native machine code; smooth animations &amp; low latency for real-time data</a:t>
            </a:r>
            <a:endParaRPr lang="en-US" sz="1000" dirty="0"/>
          </a:p>
        </p:txBody>
      </p:sp>
      <p:sp>
        <p:nvSpPr>
          <p:cNvPr id="16" name="Shape 12"/>
          <p:cNvSpPr/>
          <p:nvPr/>
        </p:nvSpPr>
        <p:spPr>
          <a:xfrm>
            <a:off x="4572000" y="3145536"/>
            <a:ext cx="4297680" cy="713232"/>
          </a:xfrm>
          <a:prstGeom prst="roundRect">
            <a:avLst>
              <a:gd name="adj" fmla="val 15385"/>
            </a:avLst>
          </a:prstGeom>
          <a:solidFill>
            <a:srgbClr val="132040"/>
          </a:solidFill>
          <a:effectLst>
            <a:outerShdw blurRad="127000" dist="38100" dir="2700000" algn="bl" rotWithShape="0">
              <a:srgbClr val="000000">
                <a:alpha val="25000"/>
              </a:srgbClr>
            </a:outerShdw>
          </a:effectLst>
        </p:spPr>
      </p:sp>
      <p:sp>
        <p:nvSpPr>
          <p:cNvPr id="17" name="Text 13"/>
          <p:cNvSpPr/>
          <p:nvPr/>
        </p:nvSpPr>
        <p:spPr>
          <a:xfrm>
            <a:off x="4645152" y="3145536"/>
            <a:ext cx="502920" cy="713232"/>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8" name="Text 14"/>
          <p:cNvSpPr/>
          <p:nvPr/>
        </p:nvSpPr>
        <p:spPr>
          <a:xfrm>
            <a:off x="5193792" y="3200400"/>
            <a:ext cx="3566160" cy="237744"/>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Rich UI Components</a:t>
            </a:r>
            <a:endParaRPr lang="en-US" sz="1200" dirty="0"/>
          </a:p>
        </p:txBody>
      </p:sp>
      <p:sp>
        <p:nvSpPr>
          <p:cNvPr id="19" name="Text 15"/>
          <p:cNvSpPr/>
          <p:nvPr/>
        </p:nvSpPr>
        <p:spPr>
          <a:xfrm>
            <a:off x="5193792" y="3447288"/>
            <a:ext cx="3566160" cy="347472"/>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Cards, charts, maps, navigation components — all leveraged for an intuitive UX</a:t>
            </a:r>
            <a:endParaRPr lang="en-US" sz="1000" dirty="0"/>
          </a:p>
        </p:txBody>
      </p:sp>
      <p:sp>
        <p:nvSpPr>
          <p:cNvPr id="20" name="Shape 16"/>
          <p:cNvSpPr/>
          <p:nvPr/>
        </p:nvSpPr>
        <p:spPr>
          <a:xfrm>
            <a:off x="4572000" y="3986784"/>
            <a:ext cx="4297680" cy="713232"/>
          </a:xfrm>
          <a:prstGeom prst="roundRect">
            <a:avLst>
              <a:gd name="adj" fmla="val 15385"/>
            </a:avLst>
          </a:prstGeom>
          <a:solidFill>
            <a:srgbClr val="132040"/>
          </a:solidFill>
          <a:effectLst>
            <a:outerShdw blurRad="127000" dist="38100" dir="2700000" algn="bl" rotWithShape="0">
              <a:srgbClr val="000000">
                <a:alpha val="25000"/>
              </a:srgbClr>
            </a:outerShdw>
          </a:effectLst>
        </p:spPr>
      </p:sp>
      <p:sp>
        <p:nvSpPr>
          <p:cNvPr id="21" name="Text 17"/>
          <p:cNvSpPr/>
          <p:nvPr/>
        </p:nvSpPr>
        <p:spPr>
          <a:xfrm>
            <a:off x="4645152" y="3986784"/>
            <a:ext cx="502920" cy="713232"/>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22" name="Text 18"/>
          <p:cNvSpPr/>
          <p:nvPr/>
        </p:nvSpPr>
        <p:spPr>
          <a:xfrm>
            <a:off x="5193792" y="4041648"/>
            <a:ext cx="3566160" cy="237744"/>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Hot Reload</a:t>
            </a:r>
            <a:endParaRPr lang="en-US" sz="1200" dirty="0"/>
          </a:p>
        </p:txBody>
      </p:sp>
      <p:sp>
        <p:nvSpPr>
          <p:cNvPr id="23" name="Text 19"/>
          <p:cNvSpPr/>
          <p:nvPr/>
        </p:nvSpPr>
        <p:spPr>
          <a:xfrm>
            <a:off x="5193792" y="4288536"/>
            <a:ext cx="3566160" cy="347472"/>
          </a:xfrm>
          <a:prstGeom prst="rect">
            <a:avLst/>
          </a:prstGeom>
          <a:noFill/>
        </p:spPr>
        <p:txBody>
          <a:bodyPr wrap="square" rtlCol="0" anchor="ctr"/>
          <a:lstStyle/>
          <a:p>
            <a:pPr marL="0" indent="0">
              <a:buNone/>
            </a:pPr>
            <a:r>
              <a:rPr lang="en-US" sz="1000" dirty="0">
                <a:solidFill>
                  <a:srgbClr val="B0BEC5"/>
                </a:solidFill>
                <a:latin typeface="Calibri" panose="020F0502020204030204" pitchFamily="34" charset="0"/>
                <a:ea typeface="Calibri" panose="020F0502020204030204" pitchFamily="34" charset="-122"/>
                <a:cs typeface="Calibri" panose="020F0502020204030204" pitchFamily="34" charset="-120"/>
              </a:rPr>
              <a:t>Rapid UI testing &amp; refinement without full app restart — improved productivity</a:t>
            </a:r>
            <a:endParaRPr lang="en-US" sz="1000" dirty="0"/>
          </a:p>
        </p:txBody>
      </p:sp>
      <p:sp>
        <p:nvSpPr>
          <p:cNvPr id="24" name="Text 20"/>
          <p:cNvSpPr/>
          <p:nvPr/>
        </p:nvSpPr>
        <p:spPr>
          <a:xfrm>
            <a:off x="274320" y="4828032"/>
            <a:ext cx="8595360" cy="219456"/>
          </a:xfrm>
          <a:prstGeom prst="rect">
            <a:avLst/>
          </a:prstGeom>
          <a:noFill/>
        </p:spPr>
        <p:txBody>
          <a:bodyPr wrap="square" rtlCol="0" anchor="ctr"/>
          <a:lstStyle/>
          <a:p>
            <a:pPr marL="0" indent="0" algn="ctr">
              <a:buNone/>
            </a:pPr>
            <a:r>
              <a:rPr lang="en-US" sz="950" i="1" dirty="0">
                <a:solidFill>
                  <a:srgbClr val="00897B"/>
                </a:solidFill>
                <a:latin typeface="Calibri" panose="020F0502020204030204" pitchFamily="34" charset="0"/>
                <a:ea typeface="Calibri" panose="020F0502020204030204" pitchFamily="34" charset="-122"/>
                <a:cs typeface="Calibri" panose="020F0502020204030204" pitchFamily="34" charset="-120"/>
              </a:rPr>
              <a:t>ARCHITECTURE: Presentation Layer  →  Business Logic Layer  →  Data Layer</a:t>
            </a:r>
            <a:endParaRPr lang="en-US" sz="950" dirty="0"/>
          </a:p>
        </p:txBody>
      </p:sp>
      <p:pic>
        <p:nvPicPr>
          <p:cNvPr id="25" name="Picture 24" descr="Screenshot_20260608-220610_1"/>
          <p:cNvPicPr>
            <a:picLocks noChangeAspect="1"/>
          </p:cNvPicPr>
          <p:nvPr/>
        </p:nvPicPr>
        <p:blipFill>
          <a:blip r:embed="rId1"/>
          <a:stretch>
            <a:fillRect/>
          </a:stretch>
        </p:blipFill>
        <p:spPr>
          <a:xfrm>
            <a:off x="76835" y="1170305"/>
            <a:ext cx="2086610" cy="3613785"/>
          </a:xfrm>
          <a:prstGeom prst="rect">
            <a:avLst/>
          </a:prstGeom>
        </p:spPr>
      </p:pic>
      <p:pic>
        <p:nvPicPr>
          <p:cNvPr id="26" name="Picture 25" descr="Screenshot_20260608-220718_1"/>
          <p:cNvPicPr>
            <a:picLocks noChangeAspect="1"/>
          </p:cNvPicPr>
          <p:nvPr/>
        </p:nvPicPr>
        <p:blipFill>
          <a:blip r:embed="rId2"/>
          <a:stretch>
            <a:fillRect/>
          </a:stretch>
        </p:blipFill>
        <p:spPr>
          <a:xfrm>
            <a:off x="2099310" y="1170305"/>
            <a:ext cx="2256790" cy="36214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376545" y="-1161415"/>
            <a:ext cx="4572000" cy="4572000"/>
          </a:xfrm>
          <a:prstGeom prst="ellipse">
            <a:avLst/>
          </a:prstGeom>
          <a:solidFill>
            <a:srgbClr val="00897B">
              <a:alpha val="12000"/>
            </a:srgbClr>
          </a:solidFill>
          <a:ln w="12700">
            <a:solidFill>
              <a:srgbClr val="00897B">
                <a:alpha val="12000"/>
              </a:srgbClr>
            </a:solidFill>
            <a:prstDash val="solid"/>
          </a:ln>
        </p:spPr>
      </p:sp>
      <p:sp>
        <p:nvSpPr>
          <p:cNvPr id="3" name="Shape 1"/>
          <p:cNvSpPr/>
          <p:nvPr/>
        </p:nvSpPr>
        <p:spPr>
          <a:xfrm>
            <a:off x="-914400" y="2743200"/>
            <a:ext cx="3657600" cy="3657600"/>
          </a:xfrm>
          <a:prstGeom prst="ellipse">
            <a:avLst/>
          </a:prstGeom>
          <a:solidFill>
            <a:srgbClr val="1565C0">
              <a:alpha val="15000"/>
            </a:srgbClr>
          </a:solidFill>
          <a:ln w="12700">
            <a:solidFill>
              <a:srgbClr val="1565C0">
                <a:alpha val="15000"/>
              </a:srgbClr>
            </a:solidFill>
            <a:prstDash val="solid"/>
          </a:ln>
        </p:spPr>
      </p:sp>
      <p:sp>
        <p:nvSpPr>
          <p:cNvPr id="4" name="Shape 2"/>
          <p:cNvSpPr/>
          <p:nvPr/>
        </p:nvSpPr>
        <p:spPr>
          <a:xfrm>
            <a:off x="365760" y="228600"/>
            <a:ext cx="2011680" cy="292608"/>
          </a:xfrm>
          <a:prstGeom prst="roundRect">
            <a:avLst>
              <a:gd name="adj" fmla="val 25000"/>
            </a:avLst>
          </a:prstGeom>
          <a:solidFill>
            <a:srgbClr val="00897B"/>
          </a:solidFill>
          <a:ln w="12700">
            <a:solidFill>
              <a:srgbClr val="00897B"/>
            </a:solidFill>
            <a:prstDash val="solid"/>
          </a:ln>
        </p:spPr>
      </p:sp>
      <p:sp>
        <p:nvSpPr>
          <p:cNvPr id="5" name="Text 3"/>
          <p:cNvSpPr/>
          <p:nvPr/>
        </p:nvSpPr>
        <p:spPr>
          <a:xfrm>
            <a:off x="365760" y="228600"/>
            <a:ext cx="2011680" cy="292608"/>
          </a:xfrm>
          <a:prstGeom prst="rect">
            <a:avLst/>
          </a:prstGeom>
          <a:noFill/>
        </p:spPr>
        <p:txBody>
          <a:bodyPr wrap="square" lIns="0" tIns="0" rIns="0" bIns="0" rtlCol="0" anchor="ctr"/>
          <a:lstStyle/>
          <a:p>
            <a:pPr marL="0" indent="0" algn="ctr">
              <a:buNone/>
            </a:pPr>
            <a:r>
              <a:rPr lang="en-US" sz="900" b="1" kern="0" spc="200" dirty="0">
                <a:solidFill>
                  <a:srgbClr val="FFFFFF"/>
                </a:solidFill>
              </a:rPr>
              <a:t>CONCLUSION</a:t>
            </a:r>
            <a:endParaRPr lang="en-US" sz="900" dirty="0"/>
          </a:p>
        </p:txBody>
      </p:sp>
      <p:sp>
        <p:nvSpPr>
          <p:cNvPr id="6" name="Text 4"/>
          <p:cNvSpPr/>
          <p:nvPr/>
        </p:nvSpPr>
        <p:spPr>
          <a:xfrm>
            <a:off x="192405" y="603250"/>
            <a:ext cx="8229600" cy="50292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Summary &amp; Conclusion</a:t>
            </a:r>
            <a:endParaRPr lang="en-US" sz="3000" dirty="0"/>
          </a:p>
        </p:txBody>
      </p:sp>
      <p:sp>
        <p:nvSpPr>
          <p:cNvPr id="7" name="Shape 5"/>
          <p:cNvSpPr/>
          <p:nvPr/>
        </p:nvSpPr>
        <p:spPr>
          <a:xfrm>
            <a:off x="274320" y="1234440"/>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8" name="Shape 6"/>
          <p:cNvSpPr/>
          <p:nvPr/>
        </p:nvSpPr>
        <p:spPr>
          <a:xfrm>
            <a:off x="365760" y="1344168"/>
            <a:ext cx="438912" cy="438912"/>
          </a:xfrm>
          <a:prstGeom prst="ellipse">
            <a:avLst/>
          </a:prstGeom>
          <a:solidFill>
            <a:srgbClr val="00897B"/>
          </a:solidFill>
          <a:ln w="12700">
            <a:solidFill>
              <a:srgbClr val="00897B"/>
            </a:solidFill>
            <a:prstDash val="solid"/>
          </a:ln>
        </p:spPr>
      </p:sp>
      <p:sp>
        <p:nvSpPr>
          <p:cNvPr id="9" name="Text 7"/>
          <p:cNvSpPr/>
          <p:nvPr/>
        </p:nvSpPr>
        <p:spPr>
          <a:xfrm>
            <a:off x="365760" y="1344168"/>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000" dirty="0"/>
          </a:p>
        </p:txBody>
      </p:sp>
      <p:sp>
        <p:nvSpPr>
          <p:cNvPr id="10" name="Text 8"/>
          <p:cNvSpPr/>
          <p:nvPr/>
        </p:nvSpPr>
        <p:spPr>
          <a:xfrm>
            <a:off x="868680" y="1307592"/>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Clear App Identity Established</a:t>
            </a:r>
            <a:endParaRPr lang="en-US" sz="1100" dirty="0"/>
          </a:p>
        </p:txBody>
      </p:sp>
      <p:sp>
        <p:nvSpPr>
          <p:cNvPr id="11" name="Text 9"/>
          <p:cNvSpPr/>
          <p:nvPr/>
        </p:nvSpPr>
        <p:spPr>
          <a:xfrm>
            <a:off x="868680" y="1563624"/>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SignalSense branding built around connectivity, network intelligence, and modern digital technology — promoting trust and reliability.</a:t>
            </a:r>
            <a:endParaRPr lang="en-US" sz="950" dirty="0"/>
          </a:p>
        </p:txBody>
      </p:sp>
      <p:sp>
        <p:nvSpPr>
          <p:cNvPr id="12" name="Shape 10"/>
          <p:cNvSpPr/>
          <p:nvPr/>
        </p:nvSpPr>
        <p:spPr>
          <a:xfrm>
            <a:off x="274320" y="2404872"/>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13" name="Shape 11"/>
          <p:cNvSpPr/>
          <p:nvPr/>
        </p:nvSpPr>
        <p:spPr>
          <a:xfrm>
            <a:off x="365760" y="2514600"/>
            <a:ext cx="438912" cy="438912"/>
          </a:xfrm>
          <a:prstGeom prst="ellipse">
            <a:avLst/>
          </a:prstGeom>
          <a:solidFill>
            <a:srgbClr val="00897B"/>
          </a:solidFill>
          <a:ln w="12700">
            <a:solidFill>
              <a:srgbClr val="00897B"/>
            </a:solidFill>
            <a:prstDash val="solid"/>
          </a:ln>
        </p:spPr>
      </p:sp>
      <p:sp>
        <p:nvSpPr>
          <p:cNvPr id="14" name="Text 12"/>
          <p:cNvSpPr/>
          <p:nvPr/>
        </p:nvSpPr>
        <p:spPr>
          <a:xfrm>
            <a:off x="365760" y="2514600"/>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15" name="Text 13"/>
          <p:cNvSpPr/>
          <p:nvPr/>
        </p:nvSpPr>
        <p:spPr>
          <a:xfrm>
            <a:off x="868680" y="2478024"/>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Figma-Based Visual Prototyping</a:t>
            </a:r>
            <a:endParaRPr lang="en-US" sz="1100" dirty="0"/>
          </a:p>
        </p:txBody>
      </p:sp>
      <p:sp>
        <p:nvSpPr>
          <p:cNvPr id="16" name="Text 14"/>
          <p:cNvSpPr/>
          <p:nvPr/>
        </p:nvSpPr>
        <p:spPr>
          <a:xfrm>
            <a:off x="868680" y="2734056"/>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Full UI prototype developed in Figma covering Dashboard, Data Collection, Coverage Monitoring, and all major screens before implementation.</a:t>
            </a:r>
            <a:endParaRPr lang="en-US" sz="950" dirty="0"/>
          </a:p>
        </p:txBody>
      </p:sp>
      <p:sp>
        <p:nvSpPr>
          <p:cNvPr id="17" name="Shape 15"/>
          <p:cNvSpPr/>
          <p:nvPr/>
        </p:nvSpPr>
        <p:spPr>
          <a:xfrm>
            <a:off x="274320" y="3575304"/>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18" name="Shape 16"/>
          <p:cNvSpPr/>
          <p:nvPr/>
        </p:nvSpPr>
        <p:spPr>
          <a:xfrm>
            <a:off x="365760" y="3685032"/>
            <a:ext cx="438912" cy="438912"/>
          </a:xfrm>
          <a:prstGeom prst="ellipse">
            <a:avLst/>
          </a:prstGeom>
          <a:solidFill>
            <a:srgbClr val="00897B"/>
          </a:solidFill>
          <a:ln w="12700">
            <a:solidFill>
              <a:srgbClr val="00897B"/>
            </a:solidFill>
            <a:prstDash val="solid"/>
          </a:ln>
        </p:spPr>
      </p:sp>
      <p:sp>
        <p:nvSpPr>
          <p:cNvPr id="19" name="Text 17"/>
          <p:cNvSpPr/>
          <p:nvPr/>
        </p:nvSpPr>
        <p:spPr>
          <a:xfrm>
            <a:off x="365760" y="3685032"/>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20" name="Text 18"/>
          <p:cNvSpPr/>
          <p:nvPr/>
        </p:nvSpPr>
        <p:spPr>
          <a:xfrm>
            <a:off x="868680" y="3648456"/>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Flutter/Dart Frontend Implemented</a:t>
            </a:r>
            <a:endParaRPr lang="en-US" sz="1100" dirty="0"/>
          </a:p>
        </p:txBody>
      </p:sp>
      <p:sp>
        <p:nvSpPr>
          <p:cNvPr id="21" name="Text 19"/>
          <p:cNvSpPr/>
          <p:nvPr/>
        </p:nvSpPr>
        <p:spPr>
          <a:xfrm>
            <a:off x="868680" y="3904488"/>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High-performance, cross-platform app from a single codebase. Riverpod state management, MethodChannels for native APIs, flutter_map, sqflite.</a:t>
            </a:r>
            <a:endParaRPr lang="en-US" sz="950" dirty="0"/>
          </a:p>
        </p:txBody>
      </p:sp>
      <p:sp>
        <p:nvSpPr>
          <p:cNvPr id="22" name="Shape 20"/>
          <p:cNvSpPr/>
          <p:nvPr/>
        </p:nvSpPr>
        <p:spPr>
          <a:xfrm>
            <a:off x="4846320" y="1234440"/>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23" name="Shape 21"/>
          <p:cNvSpPr/>
          <p:nvPr/>
        </p:nvSpPr>
        <p:spPr>
          <a:xfrm>
            <a:off x="4937760" y="1344168"/>
            <a:ext cx="438912" cy="438912"/>
          </a:xfrm>
          <a:prstGeom prst="ellipse">
            <a:avLst/>
          </a:prstGeom>
          <a:solidFill>
            <a:srgbClr val="00897B"/>
          </a:solidFill>
          <a:ln w="12700">
            <a:solidFill>
              <a:srgbClr val="00897B"/>
            </a:solidFill>
            <a:prstDash val="solid"/>
          </a:ln>
        </p:spPr>
      </p:sp>
      <p:sp>
        <p:nvSpPr>
          <p:cNvPr id="24" name="Text 22"/>
          <p:cNvSpPr/>
          <p:nvPr/>
        </p:nvSpPr>
        <p:spPr>
          <a:xfrm>
            <a:off x="4937760" y="1344168"/>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25" name="Text 23"/>
          <p:cNvSpPr/>
          <p:nvPr/>
        </p:nvSpPr>
        <p:spPr>
          <a:xfrm>
            <a:off x="5440680" y="1307592"/>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Offline-First Architecture</a:t>
            </a:r>
            <a:endParaRPr lang="en-US" sz="1100" dirty="0"/>
          </a:p>
        </p:txBody>
      </p:sp>
      <p:sp>
        <p:nvSpPr>
          <p:cNvPr id="26" name="Text 24"/>
          <p:cNvSpPr/>
          <p:nvPr/>
        </p:nvSpPr>
        <p:spPr>
          <a:xfrm>
            <a:off x="5440680" y="1563624"/>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Continuous measurement collection with local SQLite storage and automatic synchronization — critical for low-connectivity areas.</a:t>
            </a:r>
            <a:endParaRPr lang="en-US" sz="950" dirty="0"/>
          </a:p>
        </p:txBody>
      </p:sp>
      <p:sp>
        <p:nvSpPr>
          <p:cNvPr id="27" name="Shape 25"/>
          <p:cNvSpPr/>
          <p:nvPr/>
        </p:nvSpPr>
        <p:spPr>
          <a:xfrm>
            <a:off x="4846320" y="2404872"/>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28" name="Shape 26"/>
          <p:cNvSpPr/>
          <p:nvPr/>
        </p:nvSpPr>
        <p:spPr>
          <a:xfrm>
            <a:off x="4937760" y="2514600"/>
            <a:ext cx="438912" cy="438912"/>
          </a:xfrm>
          <a:prstGeom prst="ellipse">
            <a:avLst/>
          </a:prstGeom>
          <a:solidFill>
            <a:srgbClr val="00897B"/>
          </a:solidFill>
          <a:ln w="12700">
            <a:solidFill>
              <a:srgbClr val="00897B"/>
            </a:solidFill>
            <a:prstDash val="solid"/>
          </a:ln>
        </p:spPr>
      </p:sp>
      <p:sp>
        <p:nvSpPr>
          <p:cNvPr id="29" name="Text 27"/>
          <p:cNvSpPr/>
          <p:nvPr/>
        </p:nvSpPr>
        <p:spPr>
          <a:xfrm>
            <a:off x="4937760" y="2514600"/>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30" name="Text 28"/>
          <p:cNvSpPr/>
          <p:nvPr/>
        </p:nvSpPr>
        <p:spPr>
          <a:xfrm>
            <a:off x="5440680" y="2478024"/>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 &amp; Privacy Built-In</a:t>
            </a:r>
            <a:endParaRPr lang="en-US" sz="1100" dirty="0"/>
          </a:p>
        </p:txBody>
      </p:sp>
      <p:sp>
        <p:nvSpPr>
          <p:cNvPr id="31" name="Text 29"/>
          <p:cNvSpPr/>
          <p:nvPr/>
        </p:nvSpPr>
        <p:spPr>
          <a:xfrm>
            <a:off x="5440680" y="2734056"/>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No registration required. Input validation, permission management, and session protection ensure data integrity and user privacy.</a:t>
            </a:r>
            <a:endParaRPr lang="en-US" sz="950" dirty="0"/>
          </a:p>
        </p:txBody>
      </p:sp>
      <p:sp>
        <p:nvSpPr>
          <p:cNvPr id="32" name="Shape 30"/>
          <p:cNvSpPr/>
          <p:nvPr/>
        </p:nvSpPr>
        <p:spPr>
          <a:xfrm>
            <a:off x="4846320" y="2404872"/>
            <a:ext cx="4206240" cy="1005840"/>
          </a:xfrm>
          <a:prstGeom prst="roundRect">
            <a:avLst>
              <a:gd name="adj" fmla="val 10909"/>
            </a:avLst>
          </a:prstGeom>
          <a:solidFill>
            <a:srgbClr val="132040"/>
          </a:solidFill>
          <a:effectLst>
            <a:outerShdw blurRad="127000" dist="38100" dir="2700000" algn="bl" rotWithShape="0">
              <a:srgbClr val="000000">
                <a:alpha val="25000"/>
              </a:srgbClr>
            </a:outerShdw>
          </a:effectLst>
        </p:spPr>
      </p:sp>
      <p:sp>
        <p:nvSpPr>
          <p:cNvPr id="33" name="Shape 31"/>
          <p:cNvSpPr/>
          <p:nvPr/>
        </p:nvSpPr>
        <p:spPr>
          <a:xfrm>
            <a:off x="4937760" y="2514600"/>
            <a:ext cx="438912" cy="438912"/>
          </a:xfrm>
          <a:prstGeom prst="ellipse">
            <a:avLst/>
          </a:prstGeom>
          <a:solidFill>
            <a:srgbClr val="00897B"/>
          </a:solidFill>
          <a:ln w="12700">
            <a:solidFill>
              <a:srgbClr val="00897B"/>
            </a:solidFill>
            <a:prstDash val="solid"/>
          </a:ln>
        </p:spPr>
      </p:sp>
      <p:sp>
        <p:nvSpPr>
          <p:cNvPr id="34" name="Text 32"/>
          <p:cNvSpPr/>
          <p:nvPr/>
        </p:nvSpPr>
        <p:spPr>
          <a:xfrm>
            <a:off x="4937760" y="2514600"/>
            <a:ext cx="438912" cy="43891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35" name="Text 33"/>
          <p:cNvSpPr/>
          <p:nvPr/>
        </p:nvSpPr>
        <p:spPr>
          <a:xfrm>
            <a:off x="5440680" y="2478024"/>
            <a:ext cx="3474720" cy="256032"/>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 &amp; Privacy Built-In</a:t>
            </a:r>
            <a:endParaRPr lang="en-US" sz="1100" dirty="0"/>
          </a:p>
        </p:txBody>
      </p:sp>
      <p:sp>
        <p:nvSpPr>
          <p:cNvPr id="36" name="Text 34"/>
          <p:cNvSpPr/>
          <p:nvPr/>
        </p:nvSpPr>
        <p:spPr>
          <a:xfrm>
            <a:off x="5440680" y="2734056"/>
            <a:ext cx="3474720" cy="548640"/>
          </a:xfrm>
          <a:prstGeom prst="rect">
            <a:avLst/>
          </a:prstGeom>
          <a:noFill/>
        </p:spPr>
        <p:txBody>
          <a:bodyPr wrap="square" rtlCol="0" anchor="ctr"/>
          <a:lstStyle/>
          <a:p>
            <a:pPr marL="0" indent="0">
              <a:buNone/>
            </a:pPr>
            <a:r>
              <a:rPr lang="en-US" sz="950" dirty="0">
                <a:solidFill>
                  <a:srgbClr val="B0BEC5"/>
                </a:solidFill>
                <a:latin typeface="Calibri" panose="020F0502020204030204" pitchFamily="34" charset="0"/>
                <a:ea typeface="Calibri" panose="020F0502020204030204" pitchFamily="34" charset="-122"/>
                <a:cs typeface="Calibri" panose="020F0502020204030204" pitchFamily="34" charset="-120"/>
              </a:rPr>
              <a:t>No registration required. Input validation, permission management, and session protection ensure data integrity and user privacy.</a:t>
            </a:r>
            <a:endParaRPr lang="en-US" sz="950" dirty="0"/>
          </a:p>
        </p:txBody>
      </p:sp>
      <p:sp>
        <p:nvSpPr>
          <p:cNvPr id="37" name="Text 35"/>
          <p:cNvSpPr/>
          <p:nvPr/>
        </p:nvSpPr>
        <p:spPr>
          <a:xfrm>
            <a:off x="365760" y="4709160"/>
            <a:ext cx="8412480" cy="347472"/>
          </a:xfrm>
          <a:prstGeom prst="rect">
            <a:avLst/>
          </a:prstGeom>
          <a:noFill/>
        </p:spPr>
        <p:txBody>
          <a:bodyPr wrap="square" rtlCol="0" anchor="ctr"/>
          <a:lstStyle/>
          <a:p>
            <a:pPr marL="0" indent="0" algn="ctr">
              <a:buNone/>
            </a:pPr>
            <a:r>
              <a:rPr lang="en-US" sz="1100" i="1" dirty="0">
                <a:solidFill>
                  <a:srgbClr val="00897B"/>
                </a:solidFill>
                <a:latin typeface="Calibri" panose="020F0502020204030204" pitchFamily="34" charset="0"/>
                <a:ea typeface="Calibri" panose="020F0502020204030204" pitchFamily="34" charset="-122"/>
                <a:cs typeface="Calibri" panose="020F0502020204030204" pitchFamily="34" charset="-120"/>
              </a:rPr>
              <a:t>SignalSense — Transforming smartphones into powerful sensing devices for mobile network coverage prediction</a:t>
            </a:r>
            <a:endParaRPr lang="en-US" sz="1100" dirty="0"/>
          </a:p>
        </p:txBody>
      </p:sp>
      <p:sp>
        <p:nvSpPr>
          <p:cNvPr id="38" name="Text 36"/>
          <p:cNvSpPr/>
          <p:nvPr/>
        </p:nvSpPr>
        <p:spPr>
          <a:xfrm>
            <a:off x="365760" y="4937760"/>
            <a:ext cx="8412480" cy="201168"/>
          </a:xfrm>
          <a:prstGeom prst="rect">
            <a:avLst/>
          </a:prstGeom>
          <a:noFill/>
        </p:spPr>
        <p:txBody>
          <a:bodyPr wrap="square" rtlCol="0" anchor="ctr"/>
          <a:lstStyle/>
          <a:p>
            <a:pPr marL="0" indent="0" algn="ctr">
              <a:buNone/>
            </a:pPr>
            <a:r>
              <a:rPr lang="en-US" sz="850" dirty="0">
                <a:solidFill>
                  <a:srgbClr val="546E7A"/>
                </a:solidFill>
                <a:latin typeface="Calibri" panose="020F0502020204030204" pitchFamily="34" charset="0"/>
                <a:ea typeface="Calibri" panose="020F0502020204030204" pitchFamily="34" charset="-122"/>
                <a:cs typeface="Calibri" panose="020F0502020204030204" pitchFamily="34" charset="-120"/>
              </a:rPr>
              <a:t>Group 10  ·  Internet Programming &amp; Mobile Programming  ·  Task 5: UI Design &amp; Implementation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5445</Words>
  <Application>WPS Presentation</Application>
  <PresentationFormat>On-screen Show (16:9)</PresentationFormat>
  <Paragraphs>349</Paragraphs>
  <Slides>10</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SignalSense: UI Design &amp; Implementation</dc:title>
  <dc:creator>Group 10</dc:creator>
  <dc:subject>PptxGenJS Presentation</dc:subject>
  <cp:lastModifiedBy>Suinyuy Mathias Mahla</cp:lastModifiedBy>
  <cp:revision>4</cp:revision>
  <dcterms:created xsi:type="dcterms:W3CDTF">2026-06-08T20:39:00Z</dcterms:created>
  <dcterms:modified xsi:type="dcterms:W3CDTF">2026-06-08T22:24:45Z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502FE2B4451D40CE938CBC94E5ABA73D_13</vt:lpwstr>
  </property>
  <property fmtid="{D5CDD505-2E9C-101B-9397-08002B2CF9AE}" pid="3" name="KSOProductBuildVer">
    <vt:lpwstr>1033-12.1.0.26880</vt:lpwstr>
  </property>
</Properties>
</file>