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10.png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5.png"/><Relationship Id="rId7" Type="http://schemas.openxmlformats.org/officeDocument/2006/relationships/image" Target="../media/image7.png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3317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 6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82880" y="294436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Design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&amp; Implementation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2880" y="38862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" y="416052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2C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 Buea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703320" y="27432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PROGRAMMING &amp; MOBILE PROGRAMMING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03320" y="56692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3: Crowdsensed Drive Test Mobile Application for Coverage Prediction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703320" y="987552"/>
            <a:ext cx="521208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03320" y="1115568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MEMBERS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03320" y="1417320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1499616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06240" y="1499616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Asangana Paul Fleming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18120" y="149961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FE23A014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03320" y="1929384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383838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0" y="2011680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206240" y="201168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Fontem Junior Nkonganyik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818120" y="20116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FE23A063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703320" y="2441448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0" y="2523744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206240" y="2523744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Suinyuy Mathias Mahla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818120" y="25237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FE23A144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703320" y="2953512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383838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0" y="3035808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06240" y="3035808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Nfor Godwill Kongnje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818120" y="3035808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FE23A108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703320" y="3465576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40480" y="3547872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206240" y="354787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Ronald Namwene Vefonge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818120" y="35478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FE22A295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 — Purpose of the Database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Serving as the backbone for crowdsensed network data collection, storage, and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601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960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database does: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261872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traditional drive testing requiring expensive hardware, this system relies on ordinary smartphones to collect network measurements. The database stores, organizes, manages, and processes large volumes of crowdsensed data — all without storing any personal user information.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89611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0056" y="98755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Anonymous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0056" y="1289304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user accounts or personal data stored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949440" y="89611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77456" y="98755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Offline-First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077456" y="1289304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buffers data without connectivity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92040" y="199339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020056" y="208483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Auto-Sync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0056" y="2386584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Queues and uploads on reconnection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49440" y="199339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77456" y="208483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Analysis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077456" y="2386584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and classifies network quality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92040" y="309067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020056" y="318211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Hole Detection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0056" y="3483864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weak signal geographic regions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949440" y="309067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077456" y="3182112"/>
            <a:ext cx="168249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 System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077456" y="3483864"/>
            <a:ext cx="1682496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Info, Warning, and Critical notifications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2308860"/>
            <a:ext cx="4251960" cy="594360"/>
          </a:xfrm>
          <a:prstGeom prst="roundRect">
            <a:avLst>
              <a:gd name="adj" fmla="val 12308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2382012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database does not store personal user information — instead it focuses on anonymous device-generated measurements while maintaining user privacy."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74320" y="302209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383838"/>
          </a:solidFill>
          <a:ln w="8890">
            <a:solidFill>
              <a:srgbClr val="E8A02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30220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344168" y="302209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383838"/>
          </a:solidFill>
          <a:ln w="8890">
            <a:solidFill>
              <a:srgbClr val="E8A0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44168" y="30220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414016" y="302209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383838"/>
          </a:solidFill>
          <a:ln w="8890">
            <a:solidFill>
              <a:srgbClr val="E8A02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14016" y="30220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483864" y="3022092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383838"/>
          </a:solidFill>
          <a:ln w="8890">
            <a:solidFill>
              <a:srgbClr val="E8A0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83864" y="30220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ELEMENTS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Elements — Device Information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Anonymous device identification without storing personal user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326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932688"/>
            <a:ext cx="7818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Since the system operates anonymously, device information uniquely identifies data sources without exposing personal user information.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1481328"/>
            <a:ext cx="8321040" cy="731520"/>
          </a:xfrm>
          <a:prstGeom prst="roundRect">
            <a:avLst>
              <a:gd name="adj" fmla="val 8750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1682496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6824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15727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 ID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2688" y="1847088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Uniquely identifies a sensing device. Prevents duplicate records. Enables tracking of measurement origins.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304288"/>
            <a:ext cx="8321040" cy="731520"/>
          </a:xfrm>
          <a:prstGeom prst="roundRect">
            <a:avLst>
              <a:gd name="adj" fmla="val 8750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" y="2505456"/>
            <a:ext cx="329184" cy="329184"/>
          </a:xfrm>
          <a:prstGeom prst="ellipse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25054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239572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 Model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2670048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Allows comparison across device types. Supports hardware-specific analysis. (e.g. Samsung Galaxy A55, Redmi Note 13, Tecno Camon 30)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3127248"/>
            <a:ext cx="8321040" cy="731520"/>
          </a:xfrm>
          <a:prstGeom prst="roundRect">
            <a:avLst>
              <a:gd name="adj" fmla="val 8750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" y="3328416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3284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2688" y="3218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 Version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32688" y="3493008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compatibility analysis. Assists debugging. (e.g. Android 12, Android 13, Android 14)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950208"/>
            <a:ext cx="8321040" cy="731520"/>
          </a:xfrm>
          <a:prstGeom prst="roundRect">
            <a:avLst>
              <a:gd name="adj" fmla="val 8750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02920" y="4151376"/>
            <a:ext cx="329184" cy="329184"/>
          </a:xfrm>
          <a:prstGeom prst="ellipse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15137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2688" y="40416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 Version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32688" y="4315968"/>
            <a:ext cx="7589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which software version generated measurements. Supports update management.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ELEMENTS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Elements — Network Measurements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critical data collected — cellular signal metrics from smartphones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3268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932688"/>
            <a:ext cx="7818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measurements are the core of the system. Every coverage analysis and prediction depends entirely on these crowdsensed metrics.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1508760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9496" y="15819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RSRP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9496" y="183794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Signal Received Power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9496" y="2020824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signal strength. Primary indicator for coverage quality.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2350008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9496" y="2423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RSRQ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9496" y="267919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 Signal Received Quality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9496" y="2862072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Evaluates signal quality relative to interference.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1480" y="3191256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39496" y="32644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RSSI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9496" y="352044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Signal Strength Indicator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39496" y="3703320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total received radio power including noise.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4032504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39496" y="41056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SINR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9496" y="4361688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Signal-to-Interference-plus-Noise Ratio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39496" y="4544568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Indicates network quality level and interference presence.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36008" y="1508760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64024" y="158191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Cell ID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64024" y="1837944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Station Identifier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764024" y="2020824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the serving cellular base station for each reading.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36008" y="2350008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764024" y="242316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 Type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764024" y="2679192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Generation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764024" y="2862072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2G / 3G / 4G LTE / 5G — enables network tech analysis.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36008" y="3191256"/>
            <a:ext cx="4041648" cy="749808"/>
          </a:xfrm>
          <a:prstGeom prst="roundRect">
            <a:avLst>
              <a:gd name="adj" fmla="val 8537"/>
            </a:avLst>
          </a:prstGeom>
          <a:solidFill>
            <a:srgbClr val="2C2C2E"/>
          </a:solidFill>
          <a:ln w="8890">
            <a:solidFill>
              <a:srgbClr val="E8A020"/>
            </a:solidFill>
            <a:prstDash val="solid"/>
          </a:ln>
          <a:effectLst>
            <a:outerShdw blurRad="635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764024" y="32644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764024" y="352044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 Time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764024" y="3703320"/>
            <a:ext cx="37490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exactly when each measurement was captured.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ELEMENTS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Elements — Geographical, Storage, Analysis &amp; Alerts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4 data categories supporting location, offline operation, and reporting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896112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33272" y="1024128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Geographical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1444752"/>
            <a:ext cx="3886200" cy="18288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517904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Latitude — Geographic position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176479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Longitude — Geographic position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" y="201168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Altitude — Terrain-based analysis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4360" y="2258568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Speed — Moving vs. stationary detection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4360" y="2505456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GPS Accuracy — Location reliability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18888" y="896112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2C2C2E"/>
          </a:solidFill>
          <a:ln w="12700">
            <a:solidFill>
              <a:srgbClr val="C0541A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00584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1024128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Temporary Storage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956048" y="1444752"/>
            <a:ext cx="3886200" cy="18288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01768" y="1517904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Temp Record ID — Identifies local records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001768" y="176479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Storage Time — When data was stored offline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001768" y="201168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Sync Status — Pending / Uploaded / Failed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11480" y="2953512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33272" y="3081528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Analysis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48640" y="3502152"/>
            <a:ext cx="3886200" cy="18288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94360" y="3575304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Analysis ID — Identifies each analysis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594360" y="382219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Coverage Score — Numerical quality rating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594360" y="406908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Classification — Good / Acceptable / Poor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594360" y="4315968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Analysis Timestamp — When analysis ran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4818888" y="2953512"/>
            <a:ext cx="4160520" cy="1920240"/>
          </a:xfrm>
          <a:prstGeom prst="roundRect">
            <a:avLst>
              <a:gd name="adj" fmla="val 4286"/>
            </a:avLst>
          </a:prstGeom>
          <a:solidFill>
            <a:srgbClr val="2C2C2E"/>
          </a:solidFill>
          <a:ln w="12700">
            <a:solidFill>
              <a:srgbClr val="C0541A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63240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40680" y="3081528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 Data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4956048" y="3502152"/>
            <a:ext cx="3886200" cy="18288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001768" y="3575304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Alert ID — Identifies the alert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001768" y="382219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Alert Message — Network condition interpretation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5001768" y="4069080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Alert Type — Information / Warning / Critical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CONCEPTUAL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Conceptual Database Design — 8 Core Entities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components and their responsibilities within the crowdsensing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868680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E8A020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96696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8912" y="154533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8912" y="1837944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primary identifiable source of measurements. Generates, stores, and syncs data.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14600" y="868680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C0541A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996696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154533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Measurement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06040" y="1837944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entity. Stores RSRP, RSRQ, RSSI, SINR, Cell ID, and timestamps.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81728" y="868680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E8A020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996696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73168" y="154533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773168" y="1837944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 coordinates tied to each measurement. Enables coverage mapping.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848856" y="868680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C0541A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996696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0296" y="154533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Temporary Storage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940296" y="1837944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buffer for offline-collected records. Prevents data loss.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47472" y="2670048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E8A020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2798064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8912" y="334670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Synchronization Log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38912" y="3639312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upload attempts, counts, and outcomes per device.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2514600" y="2670048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C0541A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44" y="2798064"/>
            <a:ext cx="502920" cy="5029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606040" y="334670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Analysis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2606040" y="3639312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Scores and classifies network quality from raw measurements.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681728" y="2670048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E8A020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672" y="2798064"/>
            <a:ext cx="502920" cy="5029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773168" y="334670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Hole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4773168" y="3639312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geographic regions with poor signal, including severity level.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6848856" y="2670048"/>
            <a:ext cx="2029968" cy="1719072"/>
          </a:xfrm>
          <a:prstGeom prst="roundRect">
            <a:avLst>
              <a:gd name="adj" fmla="val 5319"/>
            </a:avLst>
          </a:prstGeom>
          <a:solidFill>
            <a:srgbClr val="2C2C2E"/>
          </a:solidFill>
          <a:ln w="11430">
            <a:solidFill>
              <a:srgbClr val="C0541A"/>
            </a:solidFill>
            <a:prstDash val="solid"/>
          </a:ln>
          <a:effectLst>
            <a:outerShdw blurRad="88900" dist="25400" dir="27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2798064"/>
            <a:ext cx="502920" cy="5029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40296" y="3346704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</a:t>
            </a:r>
            <a:endParaRPr lang="en-US" sz="1050" dirty="0"/>
          </a:p>
        </p:txBody>
      </p:sp>
      <p:sp>
        <p:nvSpPr>
          <p:cNvPr id="40" name="Text 30"/>
          <p:cNvSpPr/>
          <p:nvPr/>
        </p:nvSpPr>
        <p:spPr>
          <a:xfrm>
            <a:off x="6940296" y="3639312"/>
            <a:ext cx="1847088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Admin-generated notifications with type classification.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CONCEPTUAL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Entity Relationships &amp; Cardinalities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entities connect and interact — cardinality defines data flow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896112"/>
            <a:ext cx="8321040" cy="384048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96112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Entity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896112"/>
            <a:ext cx="1143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Cardinality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89611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Entity 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896112"/>
            <a:ext cx="3931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Relationship Description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1316736"/>
            <a:ext cx="8321040" cy="457200"/>
          </a:xfrm>
          <a:prstGeom prst="rect">
            <a:avLst/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40817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40817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140817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40817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device generates many measurements over time.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1819656"/>
            <a:ext cx="8321040" cy="457200"/>
          </a:xfrm>
          <a:prstGeom prst="rect">
            <a:avLst/>
          </a:prstGeom>
          <a:solidFill>
            <a:srgbClr val="383838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91109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191109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0" y="19110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Log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191109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device performs many synchronization attempts.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322576"/>
            <a:ext cx="8321040" cy="457200"/>
          </a:xfrm>
          <a:prstGeom prst="rect">
            <a:avLst/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41401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241401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98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0" y="241401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41401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measurement is recorded at exactly one location.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2825496"/>
            <a:ext cx="8321040" cy="457200"/>
          </a:xfrm>
          <a:prstGeom prst="rect">
            <a:avLst/>
          </a:prstGeom>
          <a:solidFill>
            <a:srgbClr val="383838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91693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77440" y="291693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98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0" y="291693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91693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measurement may be buffered in temporary storage pending upload.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3328416"/>
            <a:ext cx="8321040" cy="457200"/>
          </a:xfrm>
          <a:prstGeom prst="rect">
            <a:avLst/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41985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77440" y="341985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988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0" y="341985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Analysis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41985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measurement is evaluated by one coverage analysis.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3831336"/>
            <a:ext cx="8321040" cy="457200"/>
          </a:xfrm>
          <a:prstGeom prst="rect">
            <a:avLst/>
          </a:prstGeom>
          <a:solidFill>
            <a:srgbClr val="383838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92277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Analysis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377440" y="392277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657600" y="392277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Hole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92277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analysis may identify multiple coverage holes.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1480" y="4334256"/>
            <a:ext cx="8321040" cy="457200"/>
          </a:xfrm>
          <a:prstGeom prst="rect">
            <a:avLst/>
          </a:prstGeom>
          <a:solidFill>
            <a:srgbClr val="2C2C2E"/>
          </a:solidFill>
          <a:ln w="5080">
            <a:solidFill>
              <a:srgbClr val="3838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42569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Analysis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77440" y="442569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: 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657600" y="4425696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83480" y="442569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analysis may trigger multiple alerts.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" y="466344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C2C2E"/>
          </a:solidFill>
          <a:ln w="10160">
            <a:solidFill>
              <a:srgbClr val="F5C8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70001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1:N  =  One-to-Many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560320" y="466344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C2C2E"/>
          </a:solidFill>
          <a:ln w="10160">
            <a:solidFill>
              <a:srgbClr val="A898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51760" y="470001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1:1  =  One-to-One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CONCEPTUAL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Conceptual ER Diagram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Entity–Relationship notation: Entities as ellipses, Relationships as diamonds, Cardinalities on lines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8321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conceptual diagram below visually represents all 8 entities, 7 relationships, and their cardinalities. This serves as the blueprint before physical database implementation.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724912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383838"/>
          </a:solidFill>
          <a:ln w="6350">
            <a:solidFill>
              <a:srgbClr val="6B5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61488"/>
            <a:ext cx="7955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Conceptual ER Diagram (Ellipses + Diamonds + Cardinalities)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127248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5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Here ]</a:t>
            </a:r>
            <a:endParaRPr lang="en-US" sz="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4475" y="1448435"/>
            <a:ext cx="6627495" cy="34944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Entity Relation Diagram — Tables 1 to 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table definitions derived from the conceptual ER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896112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896112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152144"/>
            <a:ext cx="4187952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987552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1389888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anonymous device information.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" y="1609344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664208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device_id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device_model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os_version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app_version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created_at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91456" y="896112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C0541A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896112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1152144"/>
            <a:ext cx="4187952" cy="182880"/>
          </a:xfrm>
          <a:prstGeom prst="rect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987552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28616" y="1389888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crowdsensed network measurements.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28616" y="1609344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664208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measurement_id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device_id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rsrp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rsrq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rssi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sinr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cell_id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network_type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timestamp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017520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017520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273552"/>
            <a:ext cx="4187952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10896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" y="3511296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GPS coordinates linked to measurements.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1208" y="3730752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785616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location_id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measurement_id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latitude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longitude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altitude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speed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accuracy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91456" y="3017520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C0541A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3017520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3273552"/>
            <a:ext cx="4187952" cy="182880"/>
          </a:xfrm>
          <a:prstGeom prst="rect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310896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Temporary Storage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28616" y="3511296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Buffers offline measurements for later sync.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28616" y="3730752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785616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temp_id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measurement_id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sync_status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storage_time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Entity Relation Diagram — Tables 5 to 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tables for synchronization, analysis, holes, and alerts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896112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896112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152144"/>
            <a:ext cx="4187952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987552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Synchronization Log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" y="1389888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uploads and synchronization events.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" y="1609344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1664208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sync_id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device_id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sync_time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upload_count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sync_status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91456" y="896112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C0541A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896112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1456" y="1152144"/>
            <a:ext cx="4187952" cy="182880"/>
          </a:xfrm>
          <a:prstGeom prst="rect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8616" y="987552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28616" y="1389888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processed network quality results.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28616" y="1609344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664208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analysis_id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measurement_id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coverage_score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coverage_status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analysis_time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017520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017520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273552"/>
            <a:ext cx="4187952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10896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Coverage Hole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" y="3511296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weak network regions with severity.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21208" y="3730752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785616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hole_id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analysis_id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latitude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longitude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severity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detected_time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91456" y="3017520"/>
            <a:ext cx="4187952" cy="1993392"/>
          </a:xfrm>
          <a:prstGeom prst="roundRect">
            <a:avLst>
              <a:gd name="adj" fmla="val 4128"/>
            </a:avLst>
          </a:prstGeom>
          <a:solidFill>
            <a:srgbClr val="2C2C2E"/>
          </a:solidFill>
          <a:ln w="12700">
            <a:solidFill>
              <a:srgbClr val="C0541A"/>
            </a:solidFill>
            <a:prstDash val="solid"/>
          </a:ln>
          <a:effectLst>
            <a:outerShdw blurRad="889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3017520"/>
            <a:ext cx="4187952" cy="438912"/>
          </a:xfrm>
          <a:prstGeom prst="roundRect">
            <a:avLst>
              <a:gd name="adj" fmla="val 18750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91456" y="3273552"/>
            <a:ext cx="4187952" cy="182880"/>
          </a:xfrm>
          <a:prstGeom prst="rect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28616" y="3108960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28616" y="3511296"/>
            <a:ext cx="39136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admin notifications and alert messages.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28616" y="3730752"/>
            <a:ext cx="3913632" cy="1463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785616"/>
            <a:ext cx="3822192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alert_id (PK)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analysis_id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title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message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alert_type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created_at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ERD → MySQL Implementation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entity becomes a MySQL table with PK/FK constraints for referential integrity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ER Diagram served as the blueprint. Each entity → MySQL table. Relationships → foreign keys. Normalization applied to reduce redundancy.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720340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383838"/>
          </a:solidFill>
          <a:ln w="6350">
            <a:solidFill>
              <a:srgbClr val="6B5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56916"/>
            <a:ext cx="79552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MySQL ERD / Database Schema Diagram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122676"/>
            <a:ext cx="7955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5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Here ]</a:t>
            </a:r>
            <a:endParaRPr lang="en-US" sz="9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680" y="1330325"/>
            <a:ext cx="6732270" cy="3516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Offline Storage with SQLite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data collection even without internet connectivity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914400"/>
            <a:ext cx="777240" cy="777240"/>
          </a:xfrm>
          <a:prstGeom prst="ellipse">
            <a:avLst/>
          </a:prstGeom>
          <a:solidFill>
            <a:srgbClr val="2C2C2E"/>
          </a:solidFill>
          <a:ln w="19050">
            <a:solidFill>
              <a:srgbClr val="E8A02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05840"/>
            <a:ext cx="548640" cy="548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7472" y="804672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" y="8046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25880" y="96926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Device Goes Offline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5880" y="1298448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connectivity lost. Measurements continue to be collected.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81812" y="1709928"/>
            <a:ext cx="0" cy="530352"/>
          </a:xfrm>
          <a:prstGeom prst="line">
            <a:avLst/>
          </a:prstGeom>
          <a:noFill/>
          <a:ln w="15240">
            <a:solidFill>
              <a:srgbClr val="E8A020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411480" y="2240280"/>
            <a:ext cx="777240" cy="777240"/>
          </a:xfrm>
          <a:prstGeom prst="ellipse">
            <a:avLst/>
          </a:prstGeom>
          <a:solidFill>
            <a:srgbClr val="2C2C2E"/>
          </a:solidFill>
          <a:ln w="19050">
            <a:solidFill>
              <a:srgbClr val="E8A02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31720"/>
            <a:ext cx="548640" cy="5486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47472" y="2130552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7472" y="2130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325880" y="229514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SQLite Stores Data Locally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325880" y="2624328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Measurements, Location, Timestamps, and Sync Status saved to local DB.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81812" y="3035808"/>
            <a:ext cx="0" cy="530352"/>
          </a:xfrm>
          <a:prstGeom prst="line">
            <a:avLst/>
          </a:prstGeom>
          <a:noFill/>
          <a:ln w="15240">
            <a:solidFill>
              <a:srgbClr val="E8A020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411480" y="3566160"/>
            <a:ext cx="777240" cy="777240"/>
          </a:xfrm>
          <a:prstGeom prst="ellipse">
            <a:avLst/>
          </a:prstGeom>
          <a:solidFill>
            <a:srgbClr val="2C2C2E"/>
          </a:solidFill>
          <a:ln w="19050">
            <a:solidFill>
              <a:srgbClr val="E8A020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657600"/>
            <a:ext cx="548640" cy="548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47472" y="3456432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47472" y="34564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325880" y="362102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Auto-Sync on Reconnection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325880" y="3950208"/>
            <a:ext cx="3429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Synchronization module automatically uploads pending records to server.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11480" y="4023360"/>
            <a:ext cx="4709160" cy="896112"/>
          </a:xfrm>
          <a:prstGeom prst="roundRect">
            <a:avLst>
              <a:gd name="adj" fmla="val 8163"/>
            </a:avLst>
          </a:prstGeom>
          <a:solidFill>
            <a:srgbClr val="2C2C2E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51376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24128" y="409651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Benefit: Zero Data Loss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024128" y="437083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measurement is ever discarded — even in areas with zero connectivity. SQLite ensures uninterrupted crowdsensing as users travel between regions.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806440" y="2478024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383838"/>
          </a:solidFill>
          <a:ln w="6350">
            <a:solidFill>
              <a:srgbClr val="6B5E5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440680" y="251460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SQLite Database Structure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5440680" y="288036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5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Here ]</a:t>
            </a:r>
            <a:endParaRPr lang="en-US" sz="900" dirty="0"/>
          </a:p>
        </p:txBody>
      </p:sp>
      <p:pic>
        <p:nvPicPr>
          <p:cNvPr id="37" name="Picture 36" descr="IMG-20260616-WA00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295" y="942340"/>
            <a:ext cx="3855720" cy="4041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 Implementation — Node.js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Event-driven, asynchronous architecture for high-volume crowdsensed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896112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05840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1042416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 Scalability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2064" y="146304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thousands of simultaneous device requests without degradation.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07208" y="896112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100584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10712" y="1042416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Processing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935224" y="146304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Continuously processes incoming measurements from sensing devices.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84048" y="2313432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42316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2459736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RESTful API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12064" y="288036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Endpoints for: Upload, Retrieval, Synchronization, Analysis, Alert Generation.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807208" y="2313432"/>
            <a:ext cx="2267712" cy="1298448"/>
          </a:xfrm>
          <a:prstGeom prst="roundRect">
            <a:avLst>
              <a:gd name="adj" fmla="val 5634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224" y="2423160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10712" y="2459736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Efficient Resources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2935224" y="288036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Asynchronous architecture minimizes consumption, maximizes throughput.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230368" y="896112"/>
            <a:ext cx="35478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 Responsibilities: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230368" y="1225296"/>
            <a:ext cx="3547872" cy="329184"/>
          </a:xfrm>
          <a:prstGeom prst="rect">
            <a:avLst/>
          </a:prstGeom>
          <a:solidFill>
            <a:srgbClr val="2C2C2E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28016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96128" y="128016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crowdsensed measurements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230368" y="1609344"/>
            <a:ext cx="3547872" cy="329184"/>
          </a:xfrm>
          <a:prstGeom prst="rect">
            <a:avLst/>
          </a:prstGeom>
          <a:solidFill>
            <a:srgbClr val="383838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66420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596128" y="166420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incoming data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5230368" y="1993392"/>
            <a:ext cx="3547872" cy="329184"/>
          </a:xfrm>
          <a:prstGeom prst="rect">
            <a:avLst/>
          </a:prstGeom>
          <a:solidFill>
            <a:srgbClr val="2C2C2E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048256"/>
            <a:ext cx="237744" cy="23774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596128" y="204825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measurement records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5230368" y="2377440"/>
            <a:ext cx="3547872" cy="329184"/>
          </a:xfrm>
          <a:prstGeom prst="rect">
            <a:avLst/>
          </a:prstGeom>
          <a:solidFill>
            <a:srgbClr val="383838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432304"/>
            <a:ext cx="237744" cy="23774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596128" y="243230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measurements in MySQL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5230368" y="2761488"/>
            <a:ext cx="3547872" cy="329184"/>
          </a:xfrm>
          <a:prstGeom prst="rect">
            <a:avLst/>
          </a:prstGeom>
          <a:solidFill>
            <a:srgbClr val="2C2C2E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816352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596128" y="281635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 coverage analysis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5230368" y="3145536"/>
            <a:ext cx="3547872" cy="329184"/>
          </a:xfrm>
          <a:prstGeom prst="rect">
            <a:avLst/>
          </a:prstGeom>
          <a:solidFill>
            <a:srgbClr val="383838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200400"/>
            <a:ext cx="237744" cy="23774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596128" y="3200400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coverage holes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5230368" y="3529584"/>
            <a:ext cx="3547872" cy="329184"/>
          </a:xfrm>
          <a:prstGeom prst="rect">
            <a:avLst/>
          </a:prstGeom>
          <a:solidFill>
            <a:srgbClr val="2C2C2E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584448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596128" y="358444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alerts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5230368" y="3913632"/>
            <a:ext cx="3547872" cy="329184"/>
          </a:xfrm>
          <a:prstGeom prst="rect">
            <a:avLst/>
          </a:prstGeom>
          <a:solidFill>
            <a:srgbClr val="383838"/>
          </a:solidFill>
          <a:ln w="3810">
            <a:solidFill>
              <a:srgbClr val="383838"/>
            </a:solidFill>
            <a:prstDash val="solid"/>
          </a:ln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968496"/>
            <a:ext cx="237744" cy="237744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596128" y="3968496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data to Flutter front-end</a:t>
            </a:r>
            <a:endParaRPr lang="en-US" sz="950" dirty="0"/>
          </a:p>
        </p:txBody>
      </p:sp>
      <p:sp>
        <p:nvSpPr>
          <p:cNvPr id="56" name="Text 42"/>
          <p:cNvSpPr/>
          <p:nvPr/>
        </p:nvSpPr>
        <p:spPr>
          <a:xfrm>
            <a:off x="3035808" y="3941064"/>
            <a:ext cx="1965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10972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109728"/>
            <a:ext cx="10058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09728"/>
            <a:ext cx="83210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8D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Complete System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58521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data flow: Smartphone → SQLite → Node.js → MySQL → Coverage Maps &amp; Alerts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8321040" cy="22860"/>
          </a:xfrm>
          <a:prstGeom prst="rect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1440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402336" cy="40233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50976" y="1115568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11155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71600" y="107899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Smartphones collect network measurements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27248" y="1508760"/>
            <a:ext cx="548640" cy="0"/>
          </a:xfrm>
          <a:prstGeom prst="line">
            <a:avLst/>
          </a:prstGeom>
          <a:noFill/>
          <a:ln w="15240">
            <a:solidFill>
              <a:srgbClr val="E8A0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0128" y="91440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060704"/>
            <a:ext cx="402336" cy="40233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877056" y="1115568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77056" y="11155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297680" y="107899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Measurements stored in SQLite (offline)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53328" y="1508760"/>
            <a:ext cx="548640" cy="0"/>
          </a:xfrm>
          <a:prstGeom prst="line">
            <a:avLst/>
          </a:prstGeom>
          <a:noFill/>
          <a:ln w="15240">
            <a:solidFill>
              <a:srgbClr val="E8A02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36208" y="91440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060704"/>
            <a:ext cx="402336" cy="40233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803136" y="1115568"/>
            <a:ext cx="329184" cy="3291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03136" y="11155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7223760" y="107899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queues unsynchronized records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84048" y="233172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478024"/>
            <a:ext cx="402336" cy="40233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50976" y="2532888"/>
            <a:ext cx="329184" cy="329184"/>
          </a:xfrm>
          <a:prstGeom prst="ellipse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50976" y="25328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371600" y="249631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reconnection — upload to Node.js APIs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127248" y="2926080"/>
            <a:ext cx="548640" cy="0"/>
          </a:xfrm>
          <a:prstGeom prst="line">
            <a:avLst/>
          </a:prstGeom>
          <a:noFill/>
          <a:ln w="15240">
            <a:solidFill>
              <a:srgbClr val="E8A02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10128" y="233172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2478024"/>
            <a:ext cx="402336" cy="402336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3877056" y="2532888"/>
            <a:ext cx="329184" cy="329184"/>
          </a:xfrm>
          <a:prstGeom prst="ellipse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877056" y="25328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297680" y="249631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validates &amp; processes received data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6053328" y="2926080"/>
            <a:ext cx="548640" cy="0"/>
          </a:xfrm>
          <a:prstGeom prst="line">
            <a:avLst/>
          </a:prstGeom>
          <a:noFill/>
          <a:ln w="15240">
            <a:solidFill>
              <a:srgbClr val="E8A02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36208" y="233172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C0541A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478024"/>
            <a:ext cx="402336" cy="402336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6803136" y="2532888"/>
            <a:ext cx="329184" cy="329184"/>
          </a:xfrm>
          <a:prstGeom prst="ellipse">
            <a:avLst/>
          </a:prstGeom>
          <a:solidFill>
            <a:srgbClr val="C0541A"/>
          </a:solidFill>
          <a:ln w="12700">
            <a:solidFill>
              <a:srgbClr val="C0541A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6803136" y="253288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7223760" y="249631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Measurements permanently stored in MySQL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384048" y="374904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" y="3895344"/>
            <a:ext cx="402336" cy="402336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950976" y="3950208"/>
            <a:ext cx="329184" cy="32918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950976" y="39502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1371600" y="391363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coverage analysis performed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3127248" y="4343400"/>
            <a:ext cx="548640" cy="0"/>
          </a:xfrm>
          <a:prstGeom prst="line">
            <a:avLst/>
          </a:prstGeom>
          <a:noFill/>
          <a:ln w="15240">
            <a:solidFill>
              <a:srgbClr val="E8A02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3310128" y="374904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144" y="3895344"/>
            <a:ext cx="402336" cy="402336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3877056" y="3950208"/>
            <a:ext cx="329184" cy="32918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3877056" y="39502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4297680" y="391363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 maps &amp; holes identified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6053328" y="4343400"/>
            <a:ext cx="548640" cy="0"/>
          </a:xfrm>
          <a:prstGeom prst="line">
            <a:avLst/>
          </a:prstGeom>
          <a:noFill/>
          <a:ln w="15240">
            <a:solidFill>
              <a:srgbClr val="E8A020"/>
            </a:solidFill>
            <a:prstDash val="solid"/>
          </a:ln>
        </p:spPr>
      </p:sp>
      <p:sp>
        <p:nvSpPr>
          <p:cNvPr id="55" name="Shape 45"/>
          <p:cNvSpPr/>
          <p:nvPr/>
        </p:nvSpPr>
        <p:spPr>
          <a:xfrm>
            <a:off x="6236208" y="374904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2C2C2E"/>
          </a:solidFill>
          <a:ln w="10160">
            <a:solidFill>
              <a:srgbClr val="E8A020"/>
            </a:solidFill>
            <a:prstDash val="solid"/>
          </a:ln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3895344"/>
            <a:ext cx="402336" cy="402336"/>
          </a:xfrm>
          <a:prstGeom prst="rect">
            <a:avLst/>
          </a:prstGeom>
        </p:spPr>
      </p:pic>
      <p:sp>
        <p:nvSpPr>
          <p:cNvPr id="57" name="Shape 46"/>
          <p:cNvSpPr/>
          <p:nvPr/>
        </p:nvSpPr>
        <p:spPr>
          <a:xfrm>
            <a:off x="6803136" y="3950208"/>
            <a:ext cx="329184" cy="329184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6803136" y="39502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1100" dirty="0"/>
          </a:p>
        </p:txBody>
      </p:sp>
      <p:sp>
        <p:nvSpPr>
          <p:cNvPr id="59" name="Text 48"/>
          <p:cNvSpPr/>
          <p:nvPr/>
        </p:nvSpPr>
        <p:spPr>
          <a:xfrm>
            <a:off x="7223760" y="391363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generated &amp; alerts sent to users</a:t>
            </a:r>
            <a:endParaRPr lang="en-US" sz="950" dirty="0"/>
          </a:p>
        </p:txBody>
      </p:sp>
      <p:sp>
        <p:nvSpPr>
          <p:cNvPr id="60" name="Text 49"/>
          <p:cNvSpPr/>
          <p:nvPr/>
        </p:nvSpPr>
        <p:spPr>
          <a:xfrm>
            <a:off x="4251960" y="213969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61" name="Text 50"/>
          <p:cNvSpPr/>
          <p:nvPr/>
        </p:nvSpPr>
        <p:spPr>
          <a:xfrm>
            <a:off x="4251960" y="3557016"/>
            <a:ext cx="640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800" dirty="0"/>
          </a:p>
        </p:txBody>
      </p:sp>
      <p:sp>
        <p:nvSpPr>
          <p:cNvPr id="62" name="Shape 51"/>
          <p:cNvSpPr/>
          <p:nvPr/>
        </p:nvSpPr>
        <p:spPr>
          <a:xfrm>
            <a:off x="6236208" y="3749040"/>
            <a:ext cx="2724912" cy="1207008"/>
          </a:xfrm>
          <a:prstGeom prst="roundRect">
            <a:avLst>
              <a:gd name="adj" fmla="val 7576"/>
            </a:avLst>
          </a:prstGeom>
          <a:solidFill>
            <a:srgbClr val="2C2C2E"/>
          </a:solidFill>
          <a:ln w="15240">
            <a:solidFill>
              <a:srgbClr val="E8A020"/>
            </a:solidFill>
            <a:prstDash val="dashDot"/>
          </a:ln>
        </p:spPr>
      </p:sp>
      <p:sp>
        <p:nvSpPr>
          <p:cNvPr id="63" name="Shape 52"/>
          <p:cNvSpPr/>
          <p:nvPr/>
        </p:nvSpPr>
        <p:spPr>
          <a:xfrm>
            <a:off x="6409944" y="3913632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383838"/>
          </a:solidFill>
          <a:ln w="6350">
            <a:solidFill>
              <a:srgbClr val="6B5E50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6419088" y="3950208"/>
            <a:ext cx="235915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98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📷  Flutter API Service Class</a:t>
            </a:r>
            <a:endParaRPr lang="en-US" sz="1100" dirty="0"/>
          </a:p>
        </p:txBody>
      </p:sp>
      <p:sp>
        <p:nvSpPr>
          <p:cNvPr id="65" name="Text 54"/>
          <p:cNvSpPr/>
          <p:nvPr/>
        </p:nvSpPr>
        <p:spPr>
          <a:xfrm>
            <a:off x="6419088" y="4315968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5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Insert Screenshot Here 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321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141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4048" y="107899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2C2C2E"/>
          </a:solidFill>
          <a:ln w="15240">
            <a:solidFill>
              <a:srgbClr val="E8A020"/>
            </a:solidFill>
            <a:prstDash val="solid"/>
          </a:ln>
          <a:effectLst>
            <a:outerShdw blurRad="101600" dist="38100" dir="27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358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26187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Operational Architecture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385876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ER Diagram was successfully transformed into a fully operational MySQL database capable of supporting large-scale crowdsensed network monitoring.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91456" y="107899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2C2C2E"/>
          </a:solidFill>
          <a:ln w="15240">
            <a:solidFill>
              <a:srgbClr val="C0541A"/>
            </a:solidFill>
            <a:prstDash val="solid"/>
          </a:ln>
          <a:effectLst>
            <a:outerShdw blurRad="101600" dist="38100" dir="27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24358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22976" y="126187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Reliable Offline Collection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56048" y="1737360"/>
            <a:ext cx="385876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ensures zero data loss during offline periods — measurements continue to be captured and queued regardless of connectivity.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84048" y="28620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2C2C2E"/>
          </a:solidFill>
          <a:ln w="15240">
            <a:solidFill>
              <a:srgbClr val="E8A020"/>
            </a:solidFill>
            <a:prstDash val="solid"/>
          </a:ln>
          <a:effectLst>
            <a:outerShdw blurRad="101600" dist="38100" dir="27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2666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0449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Scalable Node.js Backend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48640" y="3520440"/>
            <a:ext cx="385876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 handles high-volume measurements in real time, executes automated coverage analysis, and manages communication across all components.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91456" y="2862072"/>
            <a:ext cx="4206240" cy="1645920"/>
          </a:xfrm>
          <a:prstGeom prst="roundRect">
            <a:avLst>
              <a:gd name="adj" fmla="val 5556"/>
            </a:avLst>
          </a:prstGeom>
          <a:solidFill>
            <a:srgbClr val="2C2C2E"/>
          </a:solidFill>
          <a:ln w="15240">
            <a:solidFill>
              <a:srgbClr val="C0541A"/>
            </a:solidFill>
            <a:prstDash val="solid"/>
          </a:ln>
          <a:effectLst>
            <a:outerShdw blurRad="101600" dist="38100" dir="2700000" algn="bl" rotWithShape="0">
              <a:srgbClr val="000000">
                <a:alpha val="2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026664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22976" y="30449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41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Complete System Integration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56048" y="3520440"/>
            <a:ext cx="3858768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 + SQLite + Node.js + MySQL delivers a robust, cost-effective alternative to traditional drive testing for continuous network monitoring.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84048" y="47091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1801368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801368" y="47091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Dart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18688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18688" y="47091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636008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636008" y="47091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053328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053328" y="47091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470648" y="4709160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83838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70648" y="470916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C8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9704</Words>
  <Application>WPS Presentation</Application>
  <PresentationFormat>On-screen Show (16:9)</PresentationFormat>
  <Paragraphs>602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6 – Database Design &amp; Implementation</dc:title>
  <dc:creator>PptxGenJS</dc:creator>
  <dc:subject>PptxGenJS Presentation</dc:subject>
  <cp:lastModifiedBy>Suinyuy Mathias Mahla</cp:lastModifiedBy>
  <cp:revision>2</cp:revision>
  <dcterms:created xsi:type="dcterms:W3CDTF">2026-06-16T11:42:00Z</dcterms:created>
  <dcterms:modified xsi:type="dcterms:W3CDTF">2026-06-16T13:42:46Z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118BF3BA71244EFB9E78C38452069C78_12</vt:lpwstr>
  </property>
  <property fmtid="{D5CDD505-2E9C-101B-9397-08002B2CF9AE}" pid="3" name="KSOProductBuildVer">
    <vt:lpwstr>1033-12.1.0.26880</vt:lpwstr>
  </property>
</Properties>
</file>