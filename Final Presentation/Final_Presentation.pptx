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0A6FB"/>
                </a:solidFill>
                <a:latin typeface="Arial"/>
              </a:defRPr>
            </a:pPr>
            <a:r>
              <a:t>DESIGN &amp; IMPLEMENTATION PRESENTATION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6400" b="1">
                <a:solidFill>
                  <a:srgbClr val="FFFFFF"/>
                </a:solidFill>
                <a:latin typeface="Arial"/>
              </a:defRPr>
            </a:pPr>
            <a:r>
              <a:t>SignalSense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472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DAFFDE"/>
                </a:solidFill>
                <a:latin typeface="Arial"/>
              </a:defRPr>
            </a:pPr>
            <a:r>
              <a:t>CROWDSENSED DRIVE TEST PLATFORM FOR COVERAGE PREDICTION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362895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Presented by Group 10</a:t>
            </a:r>
          </a:p>
          <a:p>
            <a:pPr>
              <a:defRPr sz="1300">
                <a:solidFill>
                  <a:srgbClr val="B4BEC8"/>
                </a:solidFill>
              </a:defRPr>
            </a:pPr>
            <a:r>
              <a:t>University of Buea | Faculty of Engineering &amp; Technology</a:t>
            </a:r>
          </a:p>
          <a:p>
            <a:pPr>
              <a:defRPr sz="1300">
                <a:solidFill>
                  <a:srgbClr val="00A6FB"/>
                </a:solidFill>
              </a:defRPr>
            </a:pPr>
            <a:r>
              <a:t>Asangana P. F. | Fontem J. N. | Suinyuy M. M. | Nfor G. K. | Ronald N. V.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Requirement Gathering &amp; Pain Points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6FB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6FB"/>
                </a:solidFill>
              </a:defRPr>
            </a:pPr>
            <a:r>
              <a:t>Traditional Drive Test Limitations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• Prohibitive Capital &amp; Operational Costs</a:t>
            </a:r>
            <a:br/>
            <a:r>
              <a:t>Conventional network monitoring requires expensive telemetry hardware and specialized drive test vehicles driven periodically by engineers.</a:t>
            </a:r>
          </a:p>
          <a:p>
            <a:br/>
            <a:pPr>
              <a:defRPr sz="1500">
                <a:solidFill>
                  <a:srgbClr val="DAFFDE"/>
                </a:solidFill>
              </a:defRPr>
            </a:pPr>
            <a:r>
              <a:t>• Static &amp; Periodic Nature</a:t>
            </a:r>
            <a:br/>
            <a:r>
              <a:t>Fails to track real-time dynamic changes in coverage, especially inside buildings and in logistically isolated rural communities.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828800"/>
            <a:ext cx="51206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</a:defRPr>
            </a:pPr>
            <a:r>
              <a:t>Distributed Mobile Crowdsensing</a:t>
            </a:r>
          </a:p>
          <a:p>
            <a:br/>
            <a:pPr>
              <a:defRPr sz="1500">
                <a:solidFill>
                  <a:srgbClr val="FFFFFF"/>
                </a:solidFill>
              </a:defRPr>
            </a:pPr>
            <a:r>
              <a:t>• Scalable, Autonomous Edge Processing</a:t>
            </a:r>
            <a:br/>
            <a:r>
              <a:t>Leverages standard citizen smartphones acting as Class-2 IoT devices. Signal metrics are gathered passively during routine daily commutes.</a:t>
            </a:r>
          </a:p>
          <a:p>
            <a:br/>
            <a:pPr>
              <a:defRPr sz="1500">
                <a:solidFill>
                  <a:srgbClr val="DAFFDE"/>
                </a:solidFill>
              </a:defRPr>
            </a:pPr>
            <a:r>
              <a:t>• Low Cognitive Load</a:t>
            </a:r>
            <a:br/>
            <a:r>
              <a:t>By implementing robust, localized processing logic, the platform democratizes signal testing without imposing cognitive loads on subscribers.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System Objectives &amp; RF Telemetry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6FB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6FB"/>
                </a:solidFill>
              </a:defRPr>
            </a:pPr>
            <a:r>
              <a:t>Passive Background Loop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Collect metrics continuously via Android APIs without draining battery or demanding user registration.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18288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6FB"/>
                </a:solidFill>
              </a:defRPr>
            </a:pPr>
            <a:r>
              <a:t>Offline Storage Schema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Caches spatial data locally in an SQLite client database when internet connectivity is completely lost.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18288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A6FB"/>
                </a:solidFill>
              </a:defRPr>
            </a:pPr>
            <a:r>
              <a:t>Cloud Synchronization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Automatically transmits buffered records to the backend via secure Express REST endpoints when a 4G/5G signal is restored.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41148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RSRP/RSRQ Tracking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Tracks physical layer parameters like Reference Signal Received Power &amp; Quality to map real coverage limits.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41148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SINR Extraction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Measures Signal-to-Interference-plus-Noise ratio to analyze local network throughput and spectral efficiency.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4114800"/>
            <a:ext cx="33832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Spatial Contextualization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Binds RF metrics to exact coordinates, tracking speed, altitude, and GPS accuracy to filter out low-precision samples.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Global Multi-Tier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6FB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" y="2011680"/>
            <a:ext cx="3383280" cy="3840480"/>
          </a:xfrm>
          <a:prstGeom prst="roundRect">
            <a:avLst/>
          </a:prstGeom>
          <a:solidFill>
            <a:srgbClr val="0A283C"/>
          </a:solidFill>
          <a:ln w="19050"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defRPr sz="1800" b="1">
                <a:solidFill>
                  <a:srgbClr val="00A6FB"/>
                </a:solidFill>
              </a:defRPr>
            </a:pPr>
            <a:r>
              <a:t>Client Presentation Tier</a:t>
            </a:r>
          </a:p>
          <a:p>
            <a:pPr algn="ctr">
              <a:defRPr sz="1400">
                <a:solidFill>
                  <a:srgbClr val="B4BEC8"/>
                </a:solidFill>
              </a:defRPr>
            </a:pPr>
            <a:r>
              <a:t>(Flutter / SQLite)</a:t>
            </a:r>
          </a:p>
          <a:p>
            <a:br/>
            <a:pPr algn="l">
              <a:defRPr sz="1300">
                <a:solidFill>
                  <a:srgbClr val="DAFFDE"/>
                </a:solidFill>
              </a:defRPr>
            </a:pPr>
            <a:r>
              <a:t>Cross-platform frontend manages background sensing loops and maintains a local cache to preserve metrics during network disconnections.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43400" y="2011680"/>
            <a:ext cx="3383280" cy="3840480"/>
          </a:xfrm>
          <a:prstGeom prst="roundRect">
            <a:avLst/>
          </a:prstGeom>
          <a:solidFill>
            <a:srgbClr val="0A283C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Compute Engine Tier</a:t>
            </a:r>
          </a:p>
          <a:p>
            <a:pPr algn="ctr">
              <a:defRPr sz="1400">
                <a:solidFill>
                  <a:srgbClr val="B4BEC8"/>
                </a:solidFill>
              </a:defRPr>
            </a:pPr>
            <a:r>
              <a:t>(Node.js / Express)</a:t>
            </a:r>
          </a:p>
          <a:p>
            <a:br/>
            <a:pPr algn="l">
              <a:defRPr sz="1300">
                <a:solidFill>
                  <a:srgbClr val="DAFFDE"/>
                </a:solidFill>
              </a:defRPr>
            </a:pPr>
            <a:r>
              <a:t>An asynchronous, non-blocking middleware layer handles concurrent batch uploads and processes network health classifications.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2011680"/>
            <a:ext cx="3383280" cy="3840480"/>
          </a:xfrm>
          <a:prstGeom prst="roundRect">
            <a:avLst/>
          </a:prstGeom>
          <a:solidFill>
            <a:srgbClr val="0A283C"/>
          </a:solidFill>
          <a:ln w="19050">
            <a:solidFill>
              <a:srgbClr val="00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74320" lIns="274320" rIns="274320" bIns="274320"/>
          <a:lstStyle/>
          <a:p>
            <a:pPr algn="ctr">
              <a:defRPr sz="1800" b="1">
                <a:solidFill>
                  <a:srgbClr val="00F0FF"/>
                </a:solidFill>
              </a:defRPr>
            </a:pPr>
            <a:r>
              <a:t>Persistent Storage Tier</a:t>
            </a:r>
          </a:p>
          <a:p>
            <a:pPr algn="ctr">
              <a:defRPr sz="1400">
                <a:solidFill>
                  <a:srgbClr val="B4BEC8"/>
                </a:solidFill>
              </a:defRPr>
            </a:pPr>
            <a:r>
              <a:t>(MySQL Cloud)</a:t>
            </a:r>
          </a:p>
          <a:p>
            <a:br/>
            <a:pPr algn="l">
              <a:defRPr sz="1300">
                <a:solidFill>
                  <a:srgbClr val="DAFFDE"/>
                </a:solidFill>
              </a:defRPr>
            </a:pPr>
            <a:r>
              <a:t>Relational storage optimized for high-performance spatio-temporal queries, organizing metadata of devices, cell sectors, and sync logs.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Network Quality &amp; Ingestion Rules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6FB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2468880" cy="2286000"/>
          </a:xfrm>
          <a:prstGeom prst="rect">
            <a:avLst/>
          </a:prstGeom>
          <a:solidFill>
            <a:srgbClr val="0F2332"/>
          </a:solidFill>
          <a:ln w="2540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ECC71"/>
                </a:solidFill>
              </a:defRPr>
            </a:pPr>
            <a:r>
              <a:t>Good Signal</a:t>
            </a:r>
          </a:p>
          <a:p>
            <a:br/>
            <a:pPr algn="ctr">
              <a:defRPr sz="1500" b="1">
                <a:solidFill>
                  <a:srgbClr val="FFFFFF"/>
                </a:solidFill>
              </a:defRPr>
            </a:pPr>
            <a:r>
              <a:t>RSRP ≥ -90 dBm</a:t>
            </a:r>
          </a:p>
          <a:p>
            <a:br/>
            <a:pPr algn="ctr">
              <a:defRPr sz="1200">
                <a:solidFill>
                  <a:srgbClr val="B4BEC8"/>
                </a:solidFill>
              </a:defRPr>
            </a:pPr>
            <a:r>
              <a:t>Excellent Throughput</a:t>
            </a:r>
          </a:p>
        </p:txBody>
      </p:sp>
      <p:sp>
        <p:nvSpPr>
          <p:cNvPr id="5" name="Rectangle 4"/>
          <p:cNvSpPr/>
          <p:nvPr/>
        </p:nvSpPr>
        <p:spPr>
          <a:xfrm>
            <a:off x="3383280" y="1828800"/>
            <a:ext cx="2468880" cy="2286000"/>
          </a:xfrm>
          <a:prstGeom prst="rect">
            <a:avLst/>
          </a:prstGeom>
          <a:solidFill>
            <a:srgbClr val="0F2332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F1C40F"/>
                </a:solidFill>
              </a:defRPr>
            </a:pPr>
            <a:r>
              <a:t>Fair Signal</a:t>
            </a:r>
          </a:p>
          <a:p>
            <a:br/>
            <a:pPr algn="ctr">
              <a:defRPr sz="1500" b="1">
                <a:solidFill>
                  <a:srgbClr val="FFFFFF"/>
                </a:solidFill>
              </a:defRPr>
            </a:pPr>
            <a:r>
              <a:t>-90 to -105 dBm</a:t>
            </a:r>
          </a:p>
          <a:p>
            <a:br/>
            <a:pPr algn="ctr">
              <a:defRPr sz="1200">
                <a:solidFill>
                  <a:srgbClr val="B4BEC8"/>
                </a:solidFill>
              </a:defRPr>
            </a:pPr>
            <a:r>
              <a:t>Stable Quality Boundary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6080760" y="1828800"/>
            <a:ext cx="2468880" cy="2286000"/>
          </a:xfrm>
          <a:prstGeom prst="rect">
            <a:avLst/>
          </a:prstGeom>
          <a:solidFill>
            <a:srgbClr val="0F2332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E74C3C"/>
                </a:solidFill>
              </a:defRPr>
            </a:pPr>
            <a:r>
              <a:t>Poor Signal</a:t>
            </a:r>
          </a:p>
          <a:p>
            <a:br/>
            <a:pPr algn="ctr">
              <a:defRPr sz="1500" b="1">
                <a:solidFill>
                  <a:srgbClr val="FFFFFF"/>
                </a:solidFill>
              </a:defRPr>
            </a:pPr>
            <a:r>
              <a:t>&lt; -105 dBm</a:t>
            </a:r>
          </a:p>
          <a:p>
            <a:br/>
            <a:pPr algn="ctr">
              <a:defRPr sz="1200">
                <a:solidFill>
                  <a:srgbClr val="B4BEC8"/>
                </a:solidFill>
              </a:defRPr>
            </a:pPr>
            <a:r>
              <a:t>Degraded Connectivity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8778240" y="1828800"/>
            <a:ext cx="2468880" cy="2286000"/>
          </a:xfrm>
          <a:prstGeom prst="rect">
            <a:avLst/>
          </a:prstGeom>
          <a:solidFill>
            <a:srgbClr val="0F2332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9B59B6"/>
                </a:solidFill>
              </a:defRPr>
            </a:pPr>
            <a:r>
              <a:t>Coverage Hole</a:t>
            </a:r>
          </a:p>
          <a:p>
            <a:br/>
            <a:pPr algn="ctr">
              <a:defRPr sz="1500" b="1">
                <a:solidFill>
                  <a:srgbClr val="FFFFFF"/>
                </a:solidFill>
              </a:defRPr>
            </a:pPr>
            <a:r>
              <a:t>&lt; -110 dBm</a:t>
            </a:r>
          </a:p>
          <a:p>
            <a:br/>
            <a:pPr algn="ctr">
              <a:defRPr sz="1200">
                <a:solidFill>
                  <a:srgbClr val="B4BEC8"/>
                </a:solidFill>
              </a:defRPr>
            </a:pPr>
            <a:r>
              <a:t>Hole Detection Alert Triggered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572000"/>
            <a:ext cx="1082009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0F0FF"/>
                </a:solidFill>
              </a:defRPr>
            </a:pPr>
            <a:r>
              <a:t>Hole Detection Alert Mechanics:</a:t>
            </a:r>
          </a:p>
          <a:p>
            <a:pPr>
              <a:defRPr sz="1400">
                <a:solidFill>
                  <a:srgbClr val="DAFFDE"/>
                </a:solidFill>
              </a:defRPr>
            </a:pPr>
            <a:r>
              <a:t>The backend analytical engine automatically scans incoming telemetry. If spatial clusters consistently drop below the critical threshold of -110 dBm across independent devices, an alarm is triggered, pinpointing a localized coverage hole.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Market Analysis &amp; SignalSense Innovations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6FB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A6FB"/>
                </a:solidFill>
              </a:defRPr>
            </a:pPr>
            <a:r>
              <a:t>Privacy-First Architecture</a:t>
            </a:r>
          </a:p>
          <a:p>
            <a:br/>
            <a:pPr>
              <a:defRPr sz="1400">
                <a:solidFill>
                  <a:srgbClr val="DAFFDE"/>
                </a:solidFill>
              </a:defRPr>
            </a:pPr>
            <a:r>
              <a:t>Unlike commercial tools (OpenSignal, nPerf) that force registration, SignalSense implements anonymous data capture, stripping away tracking elements at the edge.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34340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0F0FF"/>
                </a:solidFill>
              </a:defRPr>
            </a:pPr>
            <a:r>
              <a:t>Resilient Caching Engine</a:t>
            </a:r>
          </a:p>
          <a:p>
            <a:br/>
            <a:pPr>
              <a:defRPr sz="1400">
                <a:solidFill>
                  <a:srgbClr val="DAFFDE"/>
                </a:solidFill>
              </a:defRPr>
            </a:pPr>
            <a:r>
              <a:t>Avoids data loss. Transactional state logging buffers metrics locally on SQLite and synchronizes them after verifying a successful 200 OK API handshake.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0" y="2011680"/>
            <a:ext cx="33832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Open-Source Schema</a:t>
            </a:r>
          </a:p>
          <a:p>
            <a:br/>
            <a:pPr>
              <a:defRPr sz="1400">
                <a:solidFill>
                  <a:srgbClr val="DAFFDE"/>
                </a:solidFill>
              </a:defRPr>
            </a:pPr>
            <a:r>
              <a:t>Bypasses legacy closed-source systems by introducing a fully relational database, providing regional telecommunication operators with access to raw RF metrics.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9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Conclusion &amp; Future Milestones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188720"/>
            <a:ext cx="1828800" cy="36576"/>
          </a:xfrm>
          <a:prstGeom prst="rect">
            <a:avLst/>
          </a:prstGeom>
          <a:solidFill>
            <a:srgbClr val="00A6FB"/>
          </a:solidFill>
          <a:ln>
            <a:solidFill>
              <a:srgbClr val="00A6F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8288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A6FB"/>
                </a:solidFill>
              </a:defRPr>
            </a:pPr>
            <a:r>
              <a:t>Key Accomplishments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✑ Background Resilience: Configured visible foreground services to prevent OS thread termination.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✑ API Standardization: Created exception-handling logic to bypass fragmentation across smartphone vendor hardware.</a:t>
            </a:r>
          </a:p>
          <a:p>
            <a:pPr>
              <a:defRPr sz="1300">
                <a:solidFill>
                  <a:srgbClr val="FFFFFF"/>
                </a:solidFill>
              </a:defRPr>
            </a:pPr>
            <a:r>
              <a:t>✑ Adaptive Location Loops: Optimized GPS polling based on user movement to conserve device battery.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82512" y="182880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0F0FF"/>
                </a:solidFill>
              </a:defRPr>
            </a:pPr>
            <a:r>
              <a:t>Further Works</a:t>
            </a:r>
          </a:p>
          <a:p>
            <a:pPr>
              <a:defRPr sz="1300">
                <a:solidFill>
                  <a:srgbClr val="DAFFDE"/>
                </a:solidFill>
              </a:defRPr>
            </a:pPr>
            <a:r>
              <a:t>➤ Machine Learning: Implementing Kriging spatial interpolation algorithms.</a:t>
            </a:r>
          </a:p>
          <a:p>
            <a:pPr>
              <a:defRPr sz="1300">
                <a:solidFill>
                  <a:srgbClr val="DAFFDE"/>
                </a:solidFill>
              </a:defRPr>
            </a:pPr>
            <a:r>
              <a:t>➤ Contributor Incentives: Integrating operator reward logic.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5486400"/>
            <a:ext cx="108200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B4BEC8"/>
                </a:solidFill>
              </a:defRPr>
            </a:pPr>
            <a:r>
              <a:t>For extensive database dictionaries, backend logic diagrams, and experimental results, consult the verbatim file: G10_final_report.pdf.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